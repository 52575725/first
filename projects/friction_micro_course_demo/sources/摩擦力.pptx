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Y12582812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webp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902" y="1648287"/>
            <a:ext cx="8274287" cy="79552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ctr">
              <a:lnSpc>
                <a:spcPts val="6600"/>
              </a:lnSpc>
              <a:spcBef>
                <a:spcPts val="365"/>
              </a:spcBef>
              <a:buNone/>
            </a:pPr>
            <a:r>
              <a:rPr lang="en-US" sz="482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7110374" y="4462181"/>
            <a:ext cx="1803745" cy="40676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450"/>
              </a:lnSpc>
              <a:spcBef>
                <a:spcPts val="365"/>
              </a:spcBef>
              <a:buNone/>
            </a:pPr>
            <a:r>
              <a:rPr lang="en-US" sz="17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2026-05-16</a:t>
            </a:r>
            <a:endParaRPr lang="en-US" sz="1460" dirty="0"/>
          </a:p>
        </p:txBody>
      </p:sp>
      <p:sp>
        <p:nvSpPr>
          <p:cNvPr id="6" name="Text 2"/>
          <p:cNvSpPr/>
          <p:nvPr/>
        </p:nvSpPr>
        <p:spPr>
          <a:xfrm>
            <a:off x="3373770" y="4462181"/>
            <a:ext cx="3684575" cy="40676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ctr">
              <a:lnSpc>
                <a:spcPts val="2450"/>
              </a:lnSpc>
              <a:spcBef>
                <a:spcPts val="365"/>
              </a:spcBef>
              <a:buNone/>
            </a:pPr>
            <a:r>
              <a:rPr lang="en-US" sz="17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汇报人:  老师</a:t>
            </a:r>
            <a:endParaRPr lang="en-US" sz="1460" dirty="0"/>
          </a:p>
        </p:txBody>
      </p:sp>
      <p:sp>
        <p:nvSpPr>
          <p:cNvPr id="7" name="Text 3"/>
          <p:cNvSpPr/>
          <p:nvPr/>
        </p:nvSpPr>
        <p:spPr>
          <a:xfrm>
            <a:off x="7032171" y="4631436"/>
            <a:ext cx="2111829" cy="512064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ctr">
              <a:lnSpc>
                <a:spcPts val="2400"/>
              </a:lnSpc>
              <a:spcBef>
                <a:spcPts val="365"/>
              </a:spcBef>
              <a:buNone/>
            </a:pPr>
            <a:r>
              <a:rPr lang="en-US" sz="175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AI生成</a:t>
            </a:r>
            <a:endParaRPr lang="en-US" sz="14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03091" y="2108606"/>
            <a:ext cx="488198" cy="686657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5510"/>
              </a:lnSpc>
              <a:spcBef>
                <a:spcPts val="365"/>
              </a:spcBef>
              <a:buNone/>
            </a:pPr>
            <a:r>
              <a:rPr lang="en-US" sz="40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2038198" y="2363724"/>
            <a:ext cx="1828800" cy="369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835"/>
              </a:lnSpc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摩檫力的基本概念</a:t>
            </a:r>
            <a:endParaRPr lang="en-US" sz="1460" dirty="0"/>
          </a:p>
        </p:txBody>
      </p:sp>
      <p:sp>
        <p:nvSpPr>
          <p:cNvPr id="6" name="Text 2"/>
          <p:cNvSpPr/>
          <p:nvPr/>
        </p:nvSpPr>
        <p:spPr>
          <a:xfrm>
            <a:off x="895929" y="1102766"/>
            <a:ext cx="2783251" cy="593503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4490"/>
              </a:lnSpc>
              <a:spcBef>
                <a:spcPts val="365"/>
              </a:spcBef>
              <a:buNone/>
            </a:pPr>
            <a:r>
              <a:rPr lang="en-US" sz="321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460" dirty="0"/>
          </a:p>
        </p:txBody>
      </p:sp>
      <p:sp>
        <p:nvSpPr>
          <p:cNvPr id="7" name="Text 3"/>
          <p:cNvSpPr/>
          <p:nvPr/>
        </p:nvSpPr>
        <p:spPr>
          <a:xfrm>
            <a:off x="895929" y="1686154"/>
            <a:ext cx="934883" cy="4814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265"/>
              </a:lnSpc>
              <a:spcBef>
                <a:spcPts val="365"/>
              </a:spcBef>
              <a:buNone/>
            </a:pPr>
            <a:r>
              <a:rPr lang="en-US" sz="233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录</a:t>
            </a:r>
            <a:endParaRPr lang="en-US" sz="1460" dirty="0"/>
          </a:p>
        </p:txBody>
      </p:sp>
      <p:sp>
        <p:nvSpPr>
          <p:cNvPr id="8" name="Text 4"/>
          <p:cNvSpPr/>
          <p:nvPr/>
        </p:nvSpPr>
        <p:spPr>
          <a:xfrm>
            <a:off x="3846881" y="2108606"/>
            <a:ext cx="488290" cy="686657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5510"/>
              </a:lnSpc>
              <a:spcBef>
                <a:spcPts val="365"/>
              </a:spcBef>
              <a:buNone/>
            </a:pPr>
            <a:r>
              <a:rPr lang="en-US" sz="40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460" dirty="0"/>
          </a:p>
        </p:txBody>
      </p:sp>
      <p:sp>
        <p:nvSpPr>
          <p:cNvPr id="9" name="Text 5"/>
          <p:cNvSpPr/>
          <p:nvPr/>
        </p:nvSpPr>
        <p:spPr>
          <a:xfrm>
            <a:off x="4381805" y="2364638"/>
            <a:ext cx="1828800" cy="369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835"/>
              </a:lnSpc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摩檫力的计算与应用</a:t>
            </a:r>
            <a:endParaRPr lang="en-US" sz="1460" dirty="0"/>
          </a:p>
        </p:txBody>
      </p:sp>
      <p:sp>
        <p:nvSpPr>
          <p:cNvPr id="10" name="Text 6"/>
          <p:cNvSpPr/>
          <p:nvPr/>
        </p:nvSpPr>
        <p:spPr>
          <a:xfrm>
            <a:off x="6211611" y="2108606"/>
            <a:ext cx="488198" cy="686657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5510"/>
              </a:lnSpc>
              <a:spcBef>
                <a:spcPts val="365"/>
              </a:spcBef>
              <a:buNone/>
            </a:pPr>
            <a:r>
              <a:rPr lang="en-US" sz="40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460" dirty="0"/>
          </a:p>
        </p:txBody>
      </p:sp>
      <p:sp>
        <p:nvSpPr>
          <p:cNvPr id="11" name="Text 7"/>
          <p:cNvSpPr/>
          <p:nvPr/>
        </p:nvSpPr>
        <p:spPr>
          <a:xfrm>
            <a:off x="6750284" y="2365004"/>
            <a:ext cx="1828800" cy="369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835"/>
              </a:lnSpc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摩檫力的实验探究</a:t>
            </a:r>
            <a:endParaRPr lang="en-US" sz="1460" dirty="0"/>
          </a:p>
        </p:txBody>
      </p:sp>
      <p:sp>
        <p:nvSpPr>
          <p:cNvPr id="12" name="Shape 8"/>
          <p:cNvSpPr/>
          <p:nvPr/>
        </p:nvSpPr>
        <p:spPr>
          <a:xfrm>
            <a:off x="1844345" y="2380000"/>
            <a:ext cx="124816" cy="420807"/>
          </a:xfrm>
          <a:custGeom>
            <a:avLst/>
            <a:gdLst/>
            <a:ahLst/>
            <a:cxnLst/>
            <a:rect l="l" t="t" r="r" b="b"/>
            <a:pathLst>
              <a:path w="124816" h="420807">
                <a:moveTo>
                  <a:pt x="111811" y="0"/>
                </a:moveTo>
                <a:lnTo>
                  <a:pt x="124851" y="3487"/>
                </a:lnTo>
                <a:lnTo>
                  <a:pt x="13040" y="420775"/>
                </a:lnTo>
                <a:lnTo>
                  <a:pt x="0" y="417289"/>
                </a:lnTo>
                <a:close/>
              </a:path>
            </a:pathLst>
          </a:custGeom>
          <a:solidFill>
            <a:srgbClr val="262626"/>
          </a:solidFill>
        </p:spPr>
      </p:sp>
      <p:sp>
        <p:nvSpPr>
          <p:cNvPr id="13" name="Text 9"/>
          <p:cNvSpPr/>
          <p:nvPr/>
        </p:nvSpPr>
        <p:spPr>
          <a:xfrm>
            <a:off x="1844345" y="2380000"/>
            <a:ext cx="124816" cy="4208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spcBef>
                <a:spcPts val="365"/>
              </a:spcBef>
              <a:buNone/>
            </a:pPr>
            <a:r>
              <a:rPr lang="en-US" sz="131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4" name="Shape 10"/>
          <p:cNvSpPr/>
          <p:nvPr/>
        </p:nvSpPr>
        <p:spPr>
          <a:xfrm>
            <a:off x="4191975" y="2380000"/>
            <a:ext cx="124816" cy="420807"/>
          </a:xfrm>
          <a:custGeom>
            <a:avLst/>
            <a:gdLst/>
            <a:ahLst/>
            <a:cxnLst/>
            <a:rect l="l" t="t" r="r" b="b"/>
            <a:pathLst>
              <a:path w="124816" h="420807">
                <a:moveTo>
                  <a:pt x="111811" y="0"/>
                </a:moveTo>
                <a:lnTo>
                  <a:pt x="124851" y="3487"/>
                </a:lnTo>
                <a:lnTo>
                  <a:pt x="13040" y="420775"/>
                </a:lnTo>
                <a:lnTo>
                  <a:pt x="0" y="417289"/>
                </a:lnTo>
                <a:close/>
              </a:path>
            </a:pathLst>
          </a:custGeom>
          <a:solidFill>
            <a:srgbClr val="262626"/>
          </a:solidFill>
        </p:spPr>
      </p:sp>
      <p:sp>
        <p:nvSpPr>
          <p:cNvPr id="15" name="Text 11"/>
          <p:cNvSpPr/>
          <p:nvPr/>
        </p:nvSpPr>
        <p:spPr>
          <a:xfrm>
            <a:off x="4191975" y="2380000"/>
            <a:ext cx="124816" cy="4208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spcBef>
                <a:spcPts val="365"/>
              </a:spcBef>
              <a:buNone/>
            </a:pPr>
            <a:r>
              <a:rPr lang="en-US" sz="131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6" name="Shape 12"/>
          <p:cNvSpPr/>
          <p:nvPr/>
        </p:nvSpPr>
        <p:spPr>
          <a:xfrm>
            <a:off x="6582583" y="2380000"/>
            <a:ext cx="124816" cy="420807"/>
          </a:xfrm>
          <a:custGeom>
            <a:avLst/>
            <a:gdLst/>
            <a:ahLst/>
            <a:cxnLst/>
            <a:rect l="l" t="t" r="r" b="b"/>
            <a:pathLst>
              <a:path w="124816" h="420807">
                <a:moveTo>
                  <a:pt x="111811" y="0"/>
                </a:moveTo>
                <a:lnTo>
                  <a:pt x="124851" y="3487"/>
                </a:lnTo>
                <a:lnTo>
                  <a:pt x="13040" y="420775"/>
                </a:lnTo>
                <a:lnTo>
                  <a:pt x="0" y="417289"/>
                </a:lnTo>
                <a:close/>
              </a:path>
            </a:pathLst>
          </a:custGeom>
          <a:solidFill>
            <a:srgbClr val="262626"/>
          </a:solidFill>
        </p:spPr>
      </p:sp>
      <p:sp>
        <p:nvSpPr>
          <p:cNvPr id="17" name="Text 13"/>
          <p:cNvSpPr/>
          <p:nvPr/>
        </p:nvSpPr>
        <p:spPr>
          <a:xfrm>
            <a:off x="6582583" y="2380000"/>
            <a:ext cx="124816" cy="42080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spcBef>
                <a:spcPts val="365"/>
              </a:spcBef>
              <a:buNone/>
            </a:pPr>
            <a:r>
              <a:rPr lang="en-US" sz="131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63361" y="2206813"/>
            <a:ext cx="4475622" cy="546783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980"/>
              </a:lnSpc>
              <a:spcBef>
                <a:spcPts val="365"/>
              </a:spcBef>
              <a:buNone/>
            </a:pPr>
            <a:r>
              <a:rPr lang="en-US" sz="284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摩檫力的基本概念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1524945" y="1743304"/>
            <a:ext cx="1973092" cy="97597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8675"/>
              </a:lnSpc>
              <a:spcBef>
                <a:spcPts val="365"/>
              </a:spcBef>
              <a:buNone/>
            </a:pPr>
            <a:r>
              <a:rPr lang="en-US" sz="62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60" dirty="0"/>
          </a:p>
        </p:txBody>
      </p:sp>
      <p:sp>
        <p:nvSpPr>
          <p:cNvPr id="6" name="Shape 2"/>
          <p:cNvSpPr/>
          <p:nvPr/>
        </p:nvSpPr>
        <p:spPr>
          <a:xfrm>
            <a:off x="3520440" y="2386943"/>
            <a:ext cx="0" cy="485181"/>
          </a:xfrm>
          <a:custGeom>
            <a:avLst/>
            <a:gdLst/>
            <a:ahLst/>
            <a:cxnLst/>
            <a:rect l="l" t="t" r="r" b="b"/>
            <a:pathLst>
              <a:path h="485181">
                <a:moveTo>
                  <a:pt x="0" y="0"/>
                </a:moveTo>
                <a:lnTo>
                  <a:pt x="0" y="485181"/>
                </a:lnTo>
              </a:path>
            </a:pathLst>
          </a:custGeom>
          <a:noFill/>
          <a:ln w="27813">
            <a:solidFill>
              <a:srgbClr val="90ACF3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3948" y="249540"/>
            <a:ext cx="8381482" cy="527923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675"/>
              </a:lnSpc>
              <a:spcBef>
                <a:spcPts val="365"/>
              </a:spcBef>
              <a:buNone/>
            </a:pPr>
            <a:r>
              <a:rPr lang="en-US" sz="263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定义与产生条件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791505" y="1059698"/>
            <a:ext cx="8364017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静止在斜面上的木块与斜面相互接触，满足直接接触且挤压的条件，当木块有相对运动趋势时，二者间会产生阻碍相对运动的静摩擦力。</a:t>
            </a:r>
            <a:endParaRPr lang="en-US" sz="1460" dirty="0"/>
          </a:p>
        </p:txBody>
      </p:sp>
      <p:sp>
        <p:nvSpPr>
          <p:cNvPr id="6" name="Text 2"/>
          <p:cNvSpPr/>
          <p:nvPr/>
        </p:nvSpPr>
        <p:spPr>
          <a:xfrm>
            <a:off x="686257" y="3058028"/>
            <a:ext cx="2147377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静止在斜面上的木块有沿斜面下滑趋势，此时斜面施加的静摩擦力阻碍其运动趋势；推箱子未动时，箱子与地面间静摩擦力平衡推力，阻止相对运动发生。</a:t>
            </a:r>
            <a:endParaRPr lang="en-US" sz="1460" dirty="0"/>
          </a:p>
        </p:txBody>
      </p:sp>
      <p:sp>
        <p:nvSpPr>
          <p:cNvPr id="7" name="Text 3"/>
          <p:cNvSpPr/>
          <p:nvPr/>
        </p:nvSpPr>
        <p:spPr>
          <a:xfrm>
            <a:off x="6438930" y="3058028"/>
            <a:ext cx="2140245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木块置于粗糙水平桌面上，施加竖直向下的压力使其紧压桌面，此时接触面既粗糙又存在正压力，满足条件后木块滑动会产生阻碍运动的滑动摩擦力。</a:t>
            </a:r>
            <a:endParaRPr lang="en-US" sz="146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416" y="1432459"/>
            <a:ext cx="4995259" cy="15965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2584" y="1136233"/>
            <a:ext cx="699059" cy="699059"/>
          </a:xfrm>
          <a:custGeom>
            <a:avLst/>
            <a:gdLst/>
            <a:ahLst/>
            <a:cxnLst/>
            <a:rect l="l" t="t" r="r" b="b"/>
            <a:pathLst>
              <a:path w="699059" h="699059">
                <a:moveTo>
                  <a:pt x="349529" y="0"/>
                </a:moveTo>
                <a:cubicBezTo>
                  <a:pt x="542440" y="0"/>
                  <a:pt x="699059" y="156619"/>
                  <a:pt x="699059" y="349529"/>
                </a:cubicBezTo>
                <a:cubicBezTo>
                  <a:pt x="699059" y="542440"/>
                  <a:pt x="542440" y="699059"/>
                  <a:pt x="349529" y="699059"/>
                </a:cubicBezTo>
                <a:cubicBezTo>
                  <a:pt x="156619" y="699059"/>
                  <a:pt x="0" y="542440"/>
                  <a:pt x="0" y="349529"/>
                </a:cubicBezTo>
                <a:cubicBezTo>
                  <a:pt x="0" y="156619"/>
                  <a:pt x="156619" y="0"/>
                  <a:pt x="349529" y="0"/>
                </a:cubicBezTo>
                <a:close/>
              </a:path>
            </a:pathLst>
          </a:custGeom>
          <a:solidFill>
            <a:srgbClr val="90ACF3"/>
          </a:solidFill>
        </p:spPr>
      </p:sp>
      <p:sp>
        <p:nvSpPr>
          <p:cNvPr id="4" name="Text 1"/>
          <p:cNvSpPr/>
          <p:nvPr/>
        </p:nvSpPr>
        <p:spPr>
          <a:xfrm>
            <a:off x="742584" y="1136233"/>
            <a:ext cx="699059" cy="69905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5" name="Text 2"/>
          <p:cNvSpPr/>
          <p:nvPr/>
        </p:nvSpPr>
        <p:spPr>
          <a:xfrm>
            <a:off x="785470" y="3507913"/>
            <a:ext cx="2094067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手握住杯子时，杯子与手之间无相对滑动，此时产生的阻碍相对运动趋势的力即为此类力，属固体间干摩擦，具有方向与相对运动趋势相反等特点。</a:t>
            </a:r>
            <a:endParaRPr lang="en-US" sz="1460" dirty="0"/>
          </a:p>
        </p:txBody>
      </p:sp>
      <p:sp>
        <p:nvSpPr>
          <p:cNvPr id="6" name="Text 3"/>
          <p:cNvSpPr/>
          <p:nvPr/>
        </p:nvSpPr>
        <p:spPr>
          <a:xfrm>
            <a:off x="785470" y="2872130"/>
            <a:ext cx="1858792" cy="36947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静摩擦力</a:t>
            </a:r>
            <a:endParaRPr lang="en-US" sz="1460" dirty="0"/>
          </a:p>
        </p:txBody>
      </p:sp>
      <p:sp>
        <p:nvSpPr>
          <p:cNvPr id="7" name="Shape 4"/>
          <p:cNvSpPr/>
          <p:nvPr/>
        </p:nvSpPr>
        <p:spPr>
          <a:xfrm>
            <a:off x="821223" y="3349931"/>
            <a:ext cx="2007657" cy="0"/>
          </a:xfrm>
          <a:custGeom>
            <a:avLst/>
            <a:gdLst/>
            <a:ahLst/>
            <a:cxnLst/>
            <a:rect l="l" t="t" r="r" b="b"/>
            <a:pathLst>
              <a:path w="2007657">
                <a:moveTo>
                  <a:pt x="0" y="0"/>
                </a:moveTo>
                <a:lnTo>
                  <a:pt x="2007657" y="0"/>
                </a:lnTo>
              </a:path>
            </a:pathLst>
          </a:custGeom>
          <a:noFill/>
          <a:ln w="9271">
            <a:solidFill>
              <a:srgbClr val="90ACF3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2677455" y="3021988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27813">
            <a:solidFill>
              <a:srgbClr val="4674EB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765786" y="2960827"/>
            <a:ext cx="113751" cy="140543"/>
          </a:xfrm>
          <a:custGeom>
            <a:avLst/>
            <a:gdLst/>
            <a:ahLst/>
            <a:cxnLst/>
            <a:rect l="l" t="t" r="r" b="b"/>
            <a:pathLst>
              <a:path w="113751" h="140543">
                <a:moveTo>
                  <a:pt x="0" y="0"/>
                </a:moveTo>
                <a:lnTo>
                  <a:pt x="45519" y="0"/>
                </a:lnTo>
                <a:lnTo>
                  <a:pt x="113797" y="70286"/>
                </a:lnTo>
                <a:lnTo>
                  <a:pt x="45519" y="140571"/>
                </a:lnTo>
                <a:lnTo>
                  <a:pt x="0" y="140571"/>
                </a:lnTo>
                <a:lnTo>
                  <a:pt x="68278" y="70286"/>
                </a:lnTo>
                <a:lnTo>
                  <a:pt x="0" y="0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10" name="Text 7"/>
          <p:cNvSpPr/>
          <p:nvPr/>
        </p:nvSpPr>
        <p:spPr>
          <a:xfrm>
            <a:off x="2765786" y="2960827"/>
            <a:ext cx="113751" cy="1405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1" name="Shape 8"/>
          <p:cNvSpPr/>
          <p:nvPr/>
        </p:nvSpPr>
        <p:spPr>
          <a:xfrm>
            <a:off x="3503432" y="1090605"/>
            <a:ext cx="699059" cy="699059"/>
          </a:xfrm>
          <a:custGeom>
            <a:avLst/>
            <a:gdLst/>
            <a:ahLst/>
            <a:cxnLst/>
            <a:rect l="l" t="t" r="r" b="b"/>
            <a:pathLst>
              <a:path w="699059" h="699059">
                <a:moveTo>
                  <a:pt x="349529" y="0"/>
                </a:moveTo>
                <a:cubicBezTo>
                  <a:pt x="542440" y="0"/>
                  <a:pt x="699059" y="156619"/>
                  <a:pt x="699059" y="349529"/>
                </a:cubicBezTo>
                <a:cubicBezTo>
                  <a:pt x="699059" y="542440"/>
                  <a:pt x="542440" y="699059"/>
                  <a:pt x="349529" y="699059"/>
                </a:cubicBezTo>
                <a:cubicBezTo>
                  <a:pt x="156619" y="699059"/>
                  <a:pt x="0" y="542440"/>
                  <a:pt x="0" y="349529"/>
                </a:cubicBezTo>
                <a:cubicBezTo>
                  <a:pt x="0" y="156619"/>
                  <a:pt x="156619" y="0"/>
                  <a:pt x="349529" y="0"/>
                </a:cubicBezTo>
                <a:close/>
              </a:path>
            </a:pathLst>
          </a:custGeom>
          <a:solidFill>
            <a:srgbClr val="90ACF3"/>
          </a:solidFill>
        </p:spPr>
      </p:sp>
      <p:sp>
        <p:nvSpPr>
          <p:cNvPr id="12" name="Text 9"/>
          <p:cNvSpPr/>
          <p:nvPr/>
        </p:nvSpPr>
        <p:spPr>
          <a:xfrm>
            <a:off x="3503432" y="1090605"/>
            <a:ext cx="699059" cy="69905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3" name="Text 10"/>
          <p:cNvSpPr/>
          <p:nvPr/>
        </p:nvSpPr>
        <p:spPr>
          <a:xfrm>
            <a:off x="3546318" y="2872130"/>
            <a:ext cx="1858792" cy="36947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滑动摩擦力</a:t>
            </a:r>
            <a:endParaRPr lang="en-US" sz="1460" dirty="0"/>
          </a:p>
        </p:txBody>
      </p:sp>
      <p:sp>
        <p:nvSpPr>
          <p:cNvPr id="14" name="Shape 11"/>
          <p:cNvSpPr/>
          <p:nvPr/>
        </p:nvSpPr>
        <p:spPr>
          <a:xfrm>
            <a:off x="3582162" y="3304713"/>
            <a:ext cx="2007657" cy="0"/>
          </a:xfrm>
          <a:custGeom>
            <a:avLst/>
            <a:gdLst/>
            <a:ahLst/>
            <a:cxnLst/>
            <a:rect l="l" t="t" r="r" b="b"/>
            <a:pathLst>
              <a:path w="2007657">
                <a:moveTo>
                  <a:pt x="0" y="0"/>
                </a:moveTo>
                <a:lnTo>
                  <a:pt x="2007657" y="0"/>
                </a:lnTo>
              </a:path>
            </a:pathLst>
          </a:custGeom>
          <a:noFill/>
          <a:ln w="9271">
            <a:solidFill>
              <a:srgbClr val="90ACF3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5438303" y="3021988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27813">
            <a:solidFill>
              <a:srgbClr val="4674EB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5526725" y="2960827"/>
            <a:ext cx="113751" cy="140543"/>
          </a:xfrm>
          <a:custGeom>
            <a:avLst/>
            <a:gdLst/>
            <a:ahLst/>
            <a:cxnLst/>
            <a:rect l="l" t="t" r="r" b="b"/>
            <a:pathLst>
              <a:path w="113751" h="140543">
                <a:moveTo>
                  <a:pt x="0" y="0"/>
                </a:moveTo>
                <a:lnTo>
                  <a:pt x="45519" y="0"/>
                </a:lnTo>
                <a:lnTo>
                  <a:pt x="113797" y="70286"/>
                </a:lnTo>
                <a:lnTo>
                  <a:pt x="45519" y="140571"/>
                </a:lnTo>
                <a:lnTo>
                  <a:pt x="0" y="140571"/>
                </a:lnTo>
                <a:lnTo>
                  <a:pt x="68278" y="70286"/>
                </a:lnTo>
                <a:lnTo>
                  <a:pt x="0" y="0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17" name="Text 14"/>
          <p:cNvSpPr/>
          <p:nvPr/>
        </p:nvSpPr>
        <p:spPr>
          <a:xfrm>
            <a:off x="5526725" y="2960827"/>
            <a:ext cx="113751" cy="1405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8" name="Shape 15"/>
          <p:cNvSpPr/>
          <p:nvPr/>
        </p:nvSpPr>
        <p:spPr>
          <a:xfrm>
            <a:off x="6279733" y="1090605"/>
            <a:ext cx="699059" cy="699059"/>
          </a:xfrm>
          <a:custGeom>
            <a:avLst/>
            <a:gdLst/>
            <a:ahLst/>
            <a:cxnLst/>
            <a:rect l="l" t="t" r="r" b="b"/>
            <a:pathLst>
              <a:path w="699059" h="699059">
                <a:moveTo>
                  <a:pt x="349529" y="0"/>
                </a:moveTo>
                <a:cubicBezTo>
                  <a:pt x="542440" y="0"/>
                  <a:pt x="699059" y="156619"/>
                  <a:pt x="699059" y="349529"/>
                </a:cubicBezTo>
                <a:cubicBezTo>
                  <a:pt x="699059" y="542440"/>
                  <a:pt x="542440" y="699059"/>
                  <a:pt x="349529" y="699059"/>
                </a:cubicBezTo>
                <a:cubicBezTo>
                  <a:pt x="156619" y="699059"/>
                  <a:pt x="0" y="542440"/>
                  <a:pt x="0" y="349529"/>
                </a:cubicBezTo>
                <a:cubicBezTo>
                  <a:pt x="0" y="156619"/>
                  <a:pt x="156619" y="0"/>
                  <a:pt x="349529" y="0"/>
                </a:cubicBezTo>
                <a:close/>
              </a:path>
            </a:pathLst>
          </a:custGeom>
          <a:solidFill>
            <a:srgbClr val="90ACF3"/>
          </a:solidFill>
        </p:spPr>
      </p:sp>
      <p:sp>
        <p:nvSpPr>
          <p:cNvPr id="19" name="Text 16"/>
          <p:cNvSpPr/>
          <p:nvPr/>
        </p:nvSpPr>
        <p:spPr>
          <a:xfrm>
            <a:off x="6279733" y="1090605"/>
            <a:ext cx="699059" cy="69905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20" name="Text 17"/>
          <p:cNvSpPr/>
          <p:nvPr/>
        </p:nvSpPr>
        <p:spPr>
          <a:xfrm>
            <a:off x="6322619" y="2872130"/>
            <a:ext cx="1858792" cy="36947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滚动摩擦力</a:t>
            </a:r>
            <a:endParaRPr lang="en-US" sz="1460" dirty="0"/>
          </a:p>
        </p:txBody>
      </p:sp>
      <p:sp>
        <p:nvSpPr>
          <p:cNvPr id="21" name="Shape 18"/>
          <p:cNvSpPr/>
          <p:nvPr/>
        </p:nvSpPr>
        <p:spPr>
          <a:xfrm>
            <a:off x="6358463" y="3304713"/>
            <a:ext cx="2007657" cy="0"/>
          </a:xfrm>
          <a:custGeom>
            <a:avLst/>
            <a:gdLst/>
            <a:ahLst/>
            <a:cxnLst/>
            <a:rect l="l" t="t" r="r" b="b"/>
            <a:pathLst>
              <a:path w="2007657">
                <a:moveTo>
                  <a:pt x="0" y="0"/>
                </a:moveTo>
                <a:lnTo>
                  <a:pt x="2007657" y="0"/>
                </a:lnTo>
              </a:path>
            </a:pathLst>
          </a:custGeom>
          <a:noFill/>
          <a:ln w="9271">
            <a:solidFill>
              <a:srgbClr val="90ACF3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8214604" y="3021988"/>
            <a:ext cx="155448" cy="0"/>
          </a:xfrm>
          <a:custGeom>
            <a:avLst/>
            <a:gdLst/>
            <a:ahLst/>
            <a:cxnLst/>
            <a:rect l="l" t="t" r="r" b="b"/>
            <a:pathLst>
              <a:path w="155448">
                <a:moveTo>
                  <a:pt x="0" y="0"/>
                </a:moveTo>
                <a:lnTo>
                  <a:pt x="155448" y="0"/>
                </a:lnTo>
              </a:path>
            </a:pathLst>
          </a:custGeom>
          <a:noFill/>
          <a:ln w="27813">
            <a:solidFill>
              <a:srgbClr val="4674EB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8303026" y="2960827"/>
            <a:ext cx="113751" cy="140543"/>
          </a:xfrm>
          <a:custGeom>
            <a:avLst/>
            <a:gdLst/>
            <a:ahLst/>
            <a:cxnLst/>
            <a:rect l="l" t="t" r="r" b="b"/>
            <a:pathLst>
              <a:path w="113751" h="140543">
                <a:moveTo>
                  <a:pt x="0" y="0"/>
                </a:moveTo>
                <a:lnTo>
                  <a:pt x="45519" y="0"/>
                </a:lnTo>
                <a:lnTo>
                  <a:pt x="113797" y="70286"/>
                </a:lnTo>
                <a:lnTo>
                  <a:pt x="45519" y="140571"/>
                </a:lnTo>
                <a:lnTo>
                  <a:pt x="0" y="140571"/>
                </a:lnTo>
                <a:lnTo>
                  <a:pt x="68278" y="70286"/>
                </a:lnTo>
                <a:lnTo>
                  <a:pt x="0" y="0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24" name="Text 21"/>
          <p:cNvSpPr/>
          <p:nvPr/>
        </p:nvSpPr>
        <p:spPr>
          <a:xfrm>
            <a:off x="8303026" y="2960827"/>
            <a:ext cx="113751" cy="14054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25" name="Text 22"/>
          <p:cNvSpPr/>
          <p:nvPr/>
        </p:nvSpPr>
        <p:spPr>
          <a:xfrm>
            <a:off x="3546318" y="3507913"/>
            <a:ext cx="2094159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推箱子时箱子与地面间产生的阻碍相对运动的力即滑动摩擦力，它分静滑动与动滑动，有阻碍相对运动趋势或相对运动的特点，属摩擦力范畴。</a:t>
            </a:r>
            <a:endParaRPr lang="en-US" sz="1460" dirty="0"/>
          </a:p>
        </p:txBody>
      </p:sp>
      <p:sp>
        <p:nvSpPr>
          <p:cNvPr id="26" name="Text 23"/>
          <p:cNvSpPr/>
          <p:nvPr/>
        </p:nvSpPr>
        <p:spPr>
          <a:xfrm>
            <a:off x="6322619" y="3507913"/>
            <a:ext cx="2094159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汽车轮胎在路面滚动时受的力属此类，它小于滑动摩擦力，分静滚动摩擦和动滚动摩擦，是物体滚动时接触面阻碍相对运动的力。</a:t>
            </a:r>
            <a:endParaRPr lang="en-US" sz="1460" dirty="0"/>
          </a:p>
        </p:txBody>
      </p:sp>
      <p:sp>
        <p:nvSpPr>
          <p:cNvPr id="27" name="Text 24"/>
          <p:cNvSpPr/>
          <p:nvPr/>
        </p:nvSpPr>
        <p:spPr>
          <a:xfrm>
            <a:off x="6310092" y="1224016"/>
            <a:ext cx="585399" cy="36947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60" dirty="0"/>
          </a:p>
        </p:txBody>
      </p:sp>
      <p:sp>
        <p:nvSpPr>
          <p:cNvPr id="28" name="Text 25"/>
          <p:cNvSpPr/>
          <p:nvPr/>
        </p:nvSpPr>
        <p:spPr>
          <a:xfrm>
            <a:off x="3532693" y="1224016"/>
            <a:ext cx="485181" cy="36947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60" dirty="0"/>
          </a:p>
        </p:txBody>
      </p:sp>
      <p:sp>
        <p:nvSpPr>
          <p:cNvPr id="29" name="Text 26"/>
          <p:cNvSpPr/>
          <p:nvPr/>
        </p:nvSpPr>
        <p:spPr>
          <a:xfrm>
            <a:off x="799643" y="1290493"/>
            <a:ext cx="487192" cy="369475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60" dirty="0"/>
          </a:p>
        </p:txBody>
      </p:sp>
      <p:sp>
        <p:nvSpPr>
          <p:cNvPr id="30" name="Text 27"/>
          <p:cNvSpPr/>
          <p:nvPr/>
        </p:nvSpPr>
        <p:spPr>
          <a:xfrm>
            <a:off x="847283" y="356707"/>
            <a:ext cx="7588057" cy="462772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分类及特点</a:t>
            </a:r>
            <a:endParaRPr lang="en-US" sz="1460" dirty="0"/>
          </a:p>
        </p:txBody>
      </p:sp>
      <p:sp>
        <p:nvSpPr>
          <p:cNvPr id="31" name="Shape 28"/>
          <p:cNvSpPr/>
          <p:nvPr/>
        </p:nvSpPr>
        <p:spPr>
          <a:xfrm>
            <a:off x="985378" y="1136233"/>
            <a:ext cx="1694251" cy="1681230"/>
          </a:xfrm>
          <a:custGeom>
            <a:avLst/>
            <a:gdLst/>
            <a:ahLst/>
            <a:cxnLst/>
            <a:rect l="l" t="t" r="r" b="b"/>
            <a:pathLst>
              <a:path w="1694251" h="1681230">
                <a:moveTo>
                  <a:pt x="847126" y="0"/>
                </a:moveTo>
                <a:cubicBezTo>
                  <a:pt x="1314667" y="0"/>
                  <a:pt x="1694251" y="376667"/>
                  <a:pt x="1694251" y="840615"/>
                </a:cubicBezTo>
                <a:cubicBezTo>
                  <a:pt x="1694251" y="1304563"/>
                  <a:pt x="1314667" y="1681230"/>
                  <a:pt x="847126" y="1681230"/>
                </a:cubicBezTo>
                <a:cubicBezTo>
                  <a:pt x="379584" y="1681230"/>
                  <a:pt x="0" y="1304563"/>
                  <a:pt x="0" y="840615"/>
                </a:cubicBezTo>
                <a:cubicBezTo>
                  <a:pt x="0" y="376667"/>
                  <a:pt x="379584" y="0"/>
                  <a:pt x="847126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32" name="Shape 29"/>
          <p:cNvSpPr/>
          <p:nvPr/>
        </p:nvSpPr>
        <p:spPr>
          <a:xfrm>
            <a:off x="3724920" y="1136233"/>
            <a:ext cx="1694251" cy="1681230"/>
          </a:xfrm>
          <a:custGeom>
            <a:avLst/>
            <a:gdLst/>
            <a:ahLst/>
            <a:cxnLst/>
            <a:rect l="l" t="t" r="r" b="b"/>
            <a:pathLst>
              <a:path w="1694251" h="1681230">
                <a:moveTo>
                  <a:pt x="847126" y="0"/>
                </a:moveTo>
                <a:cubicBezTo>
                  <a:pt x="1314667" y="0"/>
                  <a:pt x="1694251" y="376667"/>
                  <a:pt x="1694251" y="840615"/>
                </a:cubicBezTo>
                <a:cubicBezTo>
                  <a:pt x="1694251" y="1304563"/>
                  <a:pt x="1314667" y="1681230"/>
                  <a:pt x="847126" y="1681230"/>
                </a:cubicBezTo>
                <a:cubicBezTo>
                  <a:pt x="379584" y="1681230"/>
                  <a:pt x="0" y="1304563"/>
                  <a:pt x="0" y="840615"/>
                </a:cubicBezTo>
                <a:cubicBezTo>
                  <a:pt x="0" y="376667"/>
                  <a:pt x="379584" y="0"/>
                  <a:pt x="847126" y="0"/>
                </a:cubicBezTo>
                <a:close/>
              </a:path>
            </a:pathLst>
          </a:custGeom>
          <a:solidFill>
            <a:srgbClr val="5B9BD5"/>
          </a:solidFill>
        </p:spPr>
      </p:sp>
      <p:sp>
        <p:nvSpPr>
          <p:cNvPr id="33" name="Shape 30"/>
          <p:cNvSpPr/>
          <p:nvPr/>
        </p:nvSpPr>
        <p:spPr>
          <a:xfrm>
            <a:off x="6522573" y="1136233"/>
            <a:ext cx="1694251" cy="1681230"/>
          </a:xfrm>
          <a:custGeom>
            <a:avLst/>
            <a:gdLst/>
            <a:ahLst/>
            <a:cxnLst/>
            <a:rect l="l" t="t" r="r" b="b"/>
            <a:pathLst>
              <a:path w="1694251" h="1681230">
                <a:moveTo>
                  <a:pt x="847126" y="0"/>
                </a:moveTo>
                <a:cubicBezTo>
                  <a:pt x="1314667" y="0"/>
                  <a:pt x="1694251" y="376667"/>
                  <a:pt x="1694251" y="840615"/>
                </a:cubicBezTo>
                <a:cubicBezTo>
                  <a:pt x="1694251" y="1304563"/>
                  <a:pt x="1314667" y="1681230"/>
                  <a:pt x="847126" y="1681230"/>
                </a:cubicBezTo>
                <a:cubicBezTo>
                  <a:pt x="379584" y="1681230"/>
                  <a:pt x="0" y="1304563"/>
                  <a:pt x="0" y="840615"/>
                </a:cubicBezTo>
                <a:cubicBezTo>
                  <a:pt x="0" y="376667"/>
                  <a:pt x="379584" y="0"/>
                  <a:pt x="847126" y="0"/>
                </a:cubicBezTo>
                <a:close/>
              </a:path>
            </a:pathLst>
          </a:custGeom>
          <a:solidFill>
            <a:srgbClr val="5B9BD5"/>
          </a:solidFill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969" y="1485763"/>
            <a:ext cx="929069" cy="929069"/>
          </a:xfrm>
          <a:prstGeom prst="rect">
            <a:avLst/>
          </a:prstGeom>
        </p:spPr>
      </p:pic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91" y="1594843"/>
            <a:ext cx="764011" cy="764011"/>
          </a:xfrm>
          <a:prstGeom prst="rect">
            <a:avLst/>
          </a:prstGeom>
        </p:spPr>
      </p:pic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132" y="1485763"/>
            <a:ext cx="964027" cy="9640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57626" y="1401958"/>
            <a:ext cx="225674" cy="371521"/>
          </a:xfrm>
          <a:custGeom>
            <a:avLst/>
            <a:gdLst/>
            <a:ahLst/>
            <a:cxnLst/>
            <a:rect l="l" t="t" r="r" b="b"/>
            <a:pathLst>
              <a:path w="225674" h="371521">
                <a:moveTo>
                  <a:pt x="85105" y="348383"/>
                </a:moveTo>
                <a:cubicBezTo>
                  <a:pt x="88159" y="345511"/>
                  <a:pt x="92992" y="345752"/>
                  <a:pt x="95826" y="348847"/>
                </a:cubicBezTo>
                <a:cubicBezTo>
                  <a:pt x="104943" y="358822"/>
                  <a:pt x="120716" y="358822"/>
                  <a:pt x="129833" y="348847"/>
                </a:cubicBezTo>
                <a:cubicBezTo>
                  <a:pt x="132667" y="345752"/>
                  <a:pt x="137489" y="345511"/>
                  <a:pt x="140553" y="348383"/>
                </a:cubicBezTo>
                <a:cubicBezTo>
                  <a:pt x="143651" y="351221"/>
                  <a:pt x="143882" y="356002"/>
                  <a:pt x="141048" y="359098"/>
                </a:cubicBezTo>
                <a:cubicBezTo>
                  <a:pt x="133798" y="366974"/>
                  <a:pt x="123539" y="371480"/>
                  <a:pt x="112829" y="371480"/>
                </a:cubicBezTo>
                <a:cubicBezTo>
                  <a:pt x="102120" y="371480"/>
                  <a:pt x="91861" y="366974"/>
                  <a:pt x="84611" y="359098"/>
                </a:cubicBezTo>
                <a:cubicBezTo>
                  <a:pt x="81777" y="356002"/>
                  <a:pt x="82008" y="351221"/>
                  <a:pt x="85105" y="348383"/>
                </a:cubicBezTo>
                <a:moveTo>
                  <a:pt x="167388" y="304218"/>
                </a:moveTo>
                <a:cubicBezTo>
                  <a:pt x="171441" y="303221"/>
                  <a:pt x="175593" y="305680"/>
                  <a:pt x="176592" y="309773"/>
                </a:cubicBezTo>
                <a:cubicBezTo>
                  <a:pt x="177603" y="313815"/>
                  <a:pt x="175143" y="317925"/>
                  <a:pt x="171078" y="318923"/>
                </a:cubicBezTo>
                <a:cubicBezTo>
                  <a:pt x="133480" y="328347"/>
                  <a:pt x="95870" y="337720"/>
                  <a:pt x="58271" y="347110"/>
                </a:cubicBezTo>
                <a:cubicBezTo>
                  <a:pt x="54218" y="348108"/>
                  <a:pt x="50066" y="345649"/>
                  <a:pt x="49066" y="341590"/>
                </a:cubicBezTo>
                <a:cubicBezTo>
                  <a:pt x="48056" y="337548"/>
                  <a:pt x="50516" y="333404"/>
                  <a:pt x="54580" y="332406"/>
                </a:cubicBezTo>
                <a:cubicBezTo>
                  <a:pt x="92179" y="323016"/>
                  <a:pt x="129789" y="313643"/>
                  <a:pt x="167388" y="304218"/>
                </a:cubicBezTo>
                <a:moveTo>
                  <a:pt x="167388" y="276667"/>
                </a:moveTo>
                <a:cubicBezTo>
                  <a:pt x="171441" y="275618"/>
                  <a:pt x="175593" y="278077"/>
                  <a:pt x="176592" y="282170"/>
                </a:cubicBezTo>
                <a:cubicBezTo>
                  <a:pt x="177603" y="286212"/>
                  <a:pt x="175143" y="290305"/>
                  <a:pt x="171078" y="291354"/>
                </a:cubicBezTo>
                <a:cubicBezTo>
                  <a:pt x="133480" y="300727"/>
                  <a:pt x="95870" y="310083"/>
                  <a:pt x="58271" y="319456"/>
                </a:cubicBezTo>
                <a:cubicBezTo>
                  <a:pt x="54218" y="320505"/>
                  <a:pt x="50066" y="318011"/>
                  <a:pt x="49066" y="313952"/>
                </a:cubicBezTo>
                <a:cubicBezTo>
                  <a:pt x="48056" y="309911"/>
                  <a:pt x="50516" y="305818"/>
                  <a:pt x="54580" y="304769"/>
                </a:cubicBezTo>
                <a:cubicBezTo>
                  <a:pt x="92179" y="295396"/>
                  <a:pt x="129789" y="286023"/>
                  <a:pt x="167388" y="276667"/>
                </a:cubicBezTo>
                <a:moveTo>
                  <a:pt x="112851" y="138738"/>
                </a:moveTo>
                <a:cubicBezTo>
                  <a:pt x="115630" y="138738"/>
                  <a:pt x="118365" y="138824"/>
                  <a:pt x="121100" y="139013"/>
                </a:cubicBezTo>
                <a:cubicBezTo>
                  <a:pt x="123879" y="139236"/>
                  <a:pt x="126658" y="139511"/>
                  <a:pt x="129394" y="139924"/>
                </a:cubicBezTo>
                <a:cubicBezTo>
                  <a:pt x="132129" y="140320"/>
                  <a:pt x="134908" y="140836"/>
                  <a:pt x="137643" y="141420"/>
                </a:cubicBezTo>
                <a:cubicBezTo>
                  <a:pt x="140378" y="142057"/>
                  <a:pt x="143113" y="142745"/>
                  <a:pt x="145848" y="143553"/>
                </a:cubicBezTo>
                <a:cubicBezTo>
                  <a:pt x="151779" y="145290"/>
                  <a:pt x="153229" y="153029"/>
                  <a:pt x="148352" y="156813"/>
                </a:cubicBezTo>
                <a:cubicBezTo>
                  <a:pt x="148133" y="157002"/>
                  <a:pt x="147902" y="157174"/>
                  <a:pt x="147671" y="157398"/>
                </a:cubicBezTo>
                <a:cubicBezTo>
                  <a:pt x="147440" y="157638"/>
                  <a:pt x="147177" y="157862"/>
                  <a:pt x="146946" y="158085"/>
                </a:cubicBezTo>
                <a:cubicBezTo>
                  <a:pt x="146716" y="158361"/>
                  <a:pt x="146441" y="158636"/>
                  <a:pt x="146210" y="158911"/>
                </a:cubicBezTo>
                <a:cubicBezTo>
                  <a:pt x="145947" y="159221"/>
                  <a:pt x="145716" y="159547"/>
                  <a:pt x="145441" y="159857"/>
                </a:cubicBezTo>
                <a:cubicBezTo>
                  <a:pt x="145167" y="160235"/>
                  <a:pt x="144936" y="160596"/>
                  <a:pt x="144662" y="161009"/>
                </a:cubicBezTo>
                <a:cubicBezTo>
                  <a:pt x="144387" y="161422"/>
                  <a:pt x="144167" y="161817"/>
                  <a:pt x="143893" y="162230"/>
                </a:cubicBezTo>
                <a:cubicBezTo>
                  <a:pt x="143618" y="162695"/>
                  <a:pt x="143387" y="163142"/>
                  <a:pt x="143113" y="163606"/>
                </a:cubicBezTo>
                <a:cubicBezTo>
                  <a:pt x="142893" y="164053"/>
                  <a:pt x="142662" y="164518"/>
                  <a:pt x="142432" y="164965"/>
                </a:cubicBezTo>
                <a:cubicBezTo>
                  <a:pt x="142157" y="165515"/>
                  <a:pt x="141926" y="166065"/>
                  <a:pt x="141663" y="166599"/>
                </a:cubicBezTo>
                <a:cubicBezTo>
                  <a:pt x="141432" y="167201"/>
                  <a:pt x="141158" y="167785"/>
                  <a:pt x="140927" y="168387"/>
                </a:cubicBezTo>
                <a:cubicBezTo>
                  <a:pt x="140652" y="169024"/>
                  <a:pt x="140422" y="169660"/>
                  <a:pt x="140202" y="170348"/>
                </a:cubicBezTo>
                <a:cubicBezTo>
                  <a:pt x="139927" y="171019"/>
                  <a:pt x="139697" y="171706"/>
                  <a:pt x="139466" y="172394"/>
                </a:cubicBezTo>
                <a:cubicBezTo>
                  <a:pt x="139246" y="173117"/>
                  <a:pt x="139016" y="173839"/>
                  <a:pt x="138785" y="174579"/>
                </a:cubicBezTo>
                <a:cubicBezTo>
                  <a:pt x="138554" y="175352"/>
                  <a:pt x="138335" y="176126"/>
                  <a:pt x="138104" y="176900"/>
                </a:cubicBezTo>
                <a:cubicBezTo>
                  <a:pt x="137873" y="177726"/>
                  <a:pt x="137643" y="178586"/>
                  <a:pt x="137467" y="179394"/>
                </a:cubicBezTo>
                <a:cubicBezTo>
                  <a:pt x="137236" y="180271"/>
                  <a:pt x="137006" y="181131"/>
                  <a:pt x="136830" y="181991"/>
                </a:cubicBezTo>
                <a:cubicBezTo>
                  <a:pt x="136599" y="182902"/>
                  <a:pt x="136412" y="183814"/>
                  <a:pt x="136237" y="184725"/>
                </a:cubicBezTo>
                <a:cubicBezTo>
                  <a:pt x="135819" y="186686"/>
                  <a:pt x="135413" y="188595"/>
                  <a:pt x="135094" y="190556"/>
                </a:cubicBezTo>
                <a:cubicBezTo>
                  <a:pt x="134732" y="192705"/>
                  <a:pt x="134369" y="194838"/>
                  <a:pt x="134095" y="196936"/>
                </a:cubicBezTo>
                <a:cubicBezTo>
                  <a:pt x="133820" y="198708"/>
                  <a:pt x="133589" y="200496"/>
                  <a:pt x="133359" y="202268"/>
                </a:cubicBezTo>
                <a:cubicBezTo>
                  <a:pt x="133084" y="204675"/>
                  <a:pt x="132810" y="207135"/>
                  <a:pt x="132590" y="209542"/>
                </a:cubicBezTo>
                <a:cubicBezTo>
                  <a:pt x="132315" y="212139"/>
                  <a:pt x="132085" y="214736"/>
                  <a:pt x="131854" y="217333"/>
                </a:cubicBezTo>
                <a:cubicBezTo>
                  <a:pt x="131678" y="220068"/>
                  <a:pt x="131491" y="222854"/>
                  <a:pt x="131316" y="225623"/>
                </a:cubicBezTo>
                <a:cubicBezTo>
                  <a:pt x="131085" y="229819"/>
                  <a:pt x="127482" y="233001"/>
                  <a:pt x="123286" y="232725"/>
                </a:cubicBezTo>
                <a:cubicBezTo>
                  <a:pt x="119090" y="232502"/>
                  <a:pt x="115905" y="228908"/>
                  <a:pt x="116180" y="224711"/>
                </a:cubicBezTo>
                <a:cubicBezTo>
                  <a:pt x="116410" y="220945"/>
                  <a:pt x="116630" y="217161"/>
                  <a:pt x="116948" y="213429"/>
                </a:cubicBezTo>
                <a:cubicBezTo>
                  <a:pt x="117135" y="211606"/>
                  <a:pt x="117267" y="209818"/>
                  <a:pt x="117454" y="208046"/>
                </a:cubicBezTo>
                <a:cubicBezTo>
                  <a:pt x="117640" y="206309"/>
                  <a:pt x="117816" y="204641"/>
                  <a:pt x="118003" y="202904"/>
                </a:cubicBezTo>
                <a:cubicBezTo>
                  <a:pt x="118179" y="201270"/>
                  <a:pt x="118409" y="199619"/>
                  <a:pt x="118596" y="197985"/>
                </a:cubicBezTo>
                <a:cubicBezTo>
                  <a:pt x="118728" y="196885"/>
                  <a:pt x="118915" y="195835"/>
                  <a:pt x="119046" y="194804"/>
                </a:cubicBezTo>
                <a:cubicBezTo>
                  <a:pt x="119277" y="193239"/>
                  <a:pt x="119508" y="191742"/>
                  <a:pt x="119782" y="190194"/>
                </a:cubicBezTo>
                <a:cubicBezTo>
                  <a:pt x="120002" y="188733"/>
                  <a:pt x="120233" y="187288"/>
                  <a:pt x="120507" y="185775"/>
                </a:cubicBezTo>
                <a:cubicBezTo>
                  <a:pt x="120782" y="184416"/>
                  <a:pt x="121057" y="183006"/>
                  <a:pt x="121375" y="181595"/>
                </a:cubicBezTo>
                <a:cubicBezTo>
                  <a:pt x="121650" y="180271"/>
                  <a:pt x="121924" y="178947"/>
                  <a:pt x="122243" y="177588"/>
                </a:cubicBezTo>
                <a:cubicBezTo>
                  <a:pt x="122561" y="176298"/>
                  <a:pt x="122880" y="175077"/>
                  <a:pt x="123198" y="173805"/>
                </a:cubicBezTo>
                <a:cubicBezTo>
                  <a:pt x="123517" y="172566"/>
                  <a:pt x="123879" y="171380"/>
                  <a:pt x="124242" y="170210"/>
                </a:cubicBezTo>
                <a:cubicBezTo>
                  <a:pt x="124615" y="169024"/>
                  <a:pt x="124978" y="167888"/>
                  <a:pt x="125340" y="166736"/>
                </a:cubicBezTo>
                <a:cubicBezTo>
                  <a:pt x="125703" y="165687"/>
                  <a:pt x="126120" y="164604"/>
                  <a:pt x="126527" y="163503"/>
                </a:cubicBezTo>
                <a:cubicBezTo>
                  <a:pt x="126933" y="162505"/>
                  <a:pt x="127350" y="161508"/>
                  <a:pt x="127801" y="160510"/>
                </a:cubicBezTo>
                <a:cubicBezTo>
                  <a:pt x="128207" y="159496"/>
                  <a:pt x="128669" y="158550"/>
                  <a:pt x="129119" y="157638"/>
                </a:cubicBezTo>
                <a:cubicBezTo>
                  <a:pt x="129350" y="157174"/>
                  <a:pt x="129580" y="156761"/>
                  <a:pt x="129811" y="156366"/>
                </a:cubicBezTo>
                <a:cubicBezTo>
                  <a:pt x="129943" y="156090"/>
                  <a:pt x="130129" y="155764"/>
                  <a:pt x="130305" y="155454"/>
                </a:cubicBezTo>
                <a:cubicBezTo>
                  <a:pt x="129262" y="155265"/>
                  <a:pt x="128207" y="155076"/>
                  <a:pt x="127164" y="154938"/>
                </a:cubicBezTo>
                <a:cubicBezTo>
                  <a:pt x="124791" y="154577"/>
                  <a:pt x="122419" y="154302"/>
                  <a:pt x="120002" y="154130"/>
                </a:cubicBezTo>
                <a:cubicBezTo>
                  <a:pt x="117640" y="153992"/>
                  <a:pt x="115224" y="153906"/>
                  <a:pt x="112851" y="153906"/>
                </a:cubicBezTo>
                <a:cubicBezTo>
                  <a:pt x="110479" y="153906"/>
                  <a:pt x="108062" y="153941"/>
                  <a:pt x="105690" y="154130"/>
                </a:cubicBezTo>
                <a:cubicBezTo>
                  <a:pt x="103284" y="154302"/>
                  <a:pt x="100912" y="154577"/>
                  <a:pt x="98539" y="154938"/>
                </a:cubicBezTo>
                <a:cubicBezTo>
                  <a:pt x="97495" y="155076"/>
                  <a:pt x="96441" y="155265"/>
                  <a:pt x="95398" y="155454"/>
                </a:cubicBezTo>
                <a:cubicBezTo>
                  <a:pt x="95573" y="155764"/>
                  <a:pt x="95760" y="156090"/>
                  <a:pt x="95936" y="156366"/>
                </a:cubicBezTo>
                <a:cubicBezTo>
                  <a:pt x="96122" y="156761"/>
                  <a:pt x="96353" y="157174"/>
                  <a:pt x="96584" y="157638"/>
                </a:cubicBezTo>
                <a:cubicBezTo>
                  <a:pt x="97034" y="158550"/>
                  <a:pt x="97495" y="159496"/>
                  <a:pt x="97902" y="160510"/>
                </a:cubicBezTo>
                <a:cubicBezTo>
                  <a:pt x="98352" y="161508"/>
                  <a:pt x="98770" y="162505"/>
                  <a:pt x="99176" y="163503"/>
                </a:cubicBezTo>
                <a:cubicBezTo>
                  <a:pt x="99582" y="164604"/>
                  <a:pt x="100000" y="165687"/>
                  <a:pt x="100362" y="166736"/>
                </a:cubicBezTo>
                <a:cubicBezTo>
                  <a:pt x="100725" y="167888"/>
                  <a:pt x="101087" y="169024"/>
                  <a:pt x="101461" y="170210"/>
                </a:cubicBezTo>
                <a:cubicBezTo>
                  <a:pt x="101823" y="171380"/>
                  <a:pt x="102186" y="172566"/>
                  <a:pt x="102504" y="173805"/>
                </a:cubicBezTo>
                <a:cubicBezTo>
                  <a:pt x="102823" y="175077"/>
                  <a:pt x="103141" y="176298"/>
                  <a:pt x="103460" y="177588"/>
                </a:cubicBezTo>
                <a:cubicBezTo>
                  <a:pt x="103778" y="178947"/>
                  <a:pt x="104053" y="180271"/>
                  <a:pt x="104328" y="181595"/>
                </a:cubicBezTo>
                <a:cubicBezTo>
                  <a:pt x="104646" y="183006"/>
                  <a:pt x="104921" y="184416"/>
                  <a:pt x="105195" y="185775"/>
                </a:cubicBezTo>
                <a:cubicBezTo>
                  <a:pt x="105470" y="187288"/>
                  <a:pt x="105690" y="188733"/>
                  <a:pt x="105964" y="190194"/>
                </a:cubicBezTo>
                <a:cubicBezTo>
                  <a:pt x="106195" y="191742"/>
                  <a:pt x="106426" y="193239"/>
                  <a:pt x="106656" y="194804"/>
                </a:cubicBezTo>
                <a:cubicBezTo>
                  <a:pt x="107063" y="197486"/>
                  <a:pt x="107381" y="200221"/>
                  <a:pt x="107700" y="202904"/>
                </a:cubicBezTo>
                <a:cubicBezTo>
                  <a:pt x="108106" y="206412"/>
                  <a:pt x="108425" y="209921"/>
                  <a:pt x="108754" y="213429"/>
                </a:cubicBezTo>
                <a:cubicBezTo>
                  <a:pt x="109073" y="217161"/>
                  <a:pt x="109336" y="220945"/>
                  <a:pt x="109523" y="224711"/>
                </a:cubicBezTo>
                <a:cubicBezTo>
                  <a:pt x="109798" y="228908"/>
                  <a:pt x="106601" y="232502"/>
                  <a:pt x="102416" y="232725"/>
                </a:cubicBezTo>
                <a:cubicBezTo>
                  <a:pt x="98220" y="233001"/>
                  <a:pt x="94618" y="229819"/>
                  <a:pt x="94387" y="225623"/>
                </a:cubicBezTo>
                <a:cubicBezTo>
                  <a:pt x="94211" y="222854"/>
                  <a:pt x="94024" y="220068"/>
                  <a:pt x="93849" y="217333"/>
                </a:cubicBezTo>
                <a:cubicBezTo>
                  <a:pt x="93618" y="214736"/>
                  <a:pt x="93387" y="212139"/>
                  <a:pt x="93157" y="209542"/>
                </a:cubicBezTo>
                <a:cubicBezTo>
                  <a:pt x="92882" y="207135"/>
                  <a:pt x="92619" y="204675"/>
                  <a:pt x="92344" y="202268"/>
                </a:cubicBezTo>
                <a:cubicBezTo>
                  <a:pt x="92113" y="200496"/>
                  <a:pt x="91883" y="198708"/>
                  <a:pt x="91608" y="196936"/>
                </a:cubicBezTo>
                <a:cubicBezTo>
                  <a:pt x="91333" y="194838"/>
                  <a:pt x="90971" y="192705"/>
                  <a:pt x="90608" y="190556"/>
                </a:cubicBezTo>
                <a:cubicBezTo>
                  <a:pt x="90290" y="188595"/>
                  <a:pt x="89883" y="186652"/>
                  <a:pt x="89466" y="184725"/>
                </a:cubicBezTo>
                <a:cubicBezTo>
                  <a:pt x="89104" y="182954"/>
                  <a:pt x="88697" y="181131"/>
                  <a:pt x="88236" y="179394"/>
                </a:cubicBezTo>
                <a:cubicBezTo>
                  <a:pt x="87873" y="177760"/>
                  <a:pt x="87412" y="176161"/>
                  <a:pt x="86918" y="174579"/>
                </a:cubicBezTo>
                <a:cubicBezTo>
                  <a:pt x="86687" y="173839"/>
                  <a:pt x="86456" y="173117"/>
                  <a:pt x="86237" y="172394"/>
                </a:cubicBezTo>
                <a:cubicBezTo>
                  <a:pt x="86006" y="171706"/>
                  <a:pt x="85775" y="171019"/>
                  <a:pt x="85501" y="170348"/>
                </a:cubicBezTo>
                <a:cubicBezTo>
                  <a:pt x="85270" y="169660"/>
                  <a:pt x="85050" y="169024"/>
                  <a:pt x="84776" y="168387"/>
                </a:cubicBezTo>
                <a:cubicBezTo>
                  <a:pt x="84545" y="167785"/>
                  <a:pt x="84271" y="167201"/>
                  <a:pt x="84040" y="166599"/>
                </a:cubicBezTo>
                <a:cubicBezTo>
                  <a:pt x="83776" y="166065"/>
                  <a:pt x="83546" y="165515"/>
                  <a:pt x="83271" y="164965"/>
                </a:cubicBezTo>
                <a:cubicBezTo>
                  <a:pt x="83040" y="164518"/>
                  <a:pt x="82810" y="164053"/>
                  <a:pt x="82590" y="163606"/>
                </a:cubicBezTo>
                <a:cubicBezTo>
                  <a:pt x="82315" y="163142"/>
                  <a:pt x="82085" y="162695"/>
                  <a:pt x="81810" y="162230"/>
                </a:cubicBezTo>
                <a:cubicBezTo>
                  <a:pt x="81535" y="161817"/>
                  <a:pt x="81305" y="161422"/>
                  <a:pt x="81041" y="161009"/>
                </a:cubicBezTo>
                <a:cubicBezTo>
                  <a:pt x="80767" y="160596"/>
                  <a:pt x="80536" y="160235"/>
                  <a:pt x="80261" y="159857"/>
                </a:cubicBezTo>
                <a:cubicBezTo>
                  <a:pt x="79987" y="159547"/>
                  <a:pt x="79756" y="159221"/>
                  <a:pt x="79481" y="158911"/>
                </a:cubicBezTo>
                <a:cubicBezTo>
                  <a:pt x="79262" y="158636"/>
                  <a:pt x="78987" y="158361"/>
                  <a:pt x="78756" y="158085"/>
                </a:cubicBezTo>
                <a:cubicBezTo>
                  <a:pt x="78526" y="157862"/>
                  <a:pt x="78251" y="157638"/>
                  <a:pt x="78032" y="157398"/>
                </a:cubicBezTo>
                <a:cubicBezTo>
                  <a:pt x="77801" y="157174"/>
                  <a:pt x="77570" y="157002"/>
                  <a:pt x="77340" y="156813"/>
                </a:cubicBezTo>
                <a:cubicBezTo>
                  <a:pt x="72463" y="153029"/>
                  <a:pt x="73923" y="145290"/>
                  <a:pt x="79855" y="143553"/>
                </a:cubicBezTo>
                <a:cubicBezTo>
                  <a:pt x="82590" y="142745"/>
                  <a:pt x="85325" y="142057"/>
                  <a:pt x="88060" y="141420"/>
                </a:cubicBezTo>
                <a:cubicBezTo>
                  <a:pt x="90795" y="140836"/>
                  <a:pt x="93574" y="140320"/>
                  <a:pt x="96309" y="139924"/>
                </a:cubicBezTo>
                <a:cubicBezTo>
                  <a:pt x="99088" y="139511"/>
                  <a:pt x="101823" y="139236"/>
                  <a:pt x="104602" y="139013"/>
                </a:cubicBezTo>
                <a:cubicBezTo>
                  <a:pt x="107337" y="138824"/>
                  <a:pt x="110072" y="138738"/>
                  <a:pt x="112851" y="138738"/>
                </a:cubicBezTo>
                <a:moveTo>
                  <a:pt x="112829" y="0"/>
                </a:moveTo>
                <a:cubicBezTo>
                  <a:pt x="149714" y="0"/>
                  <a:pt x="184270" y="17989"/>
                  <a:pt x="205382" y="48206"/>
                </a:cubicBezTo>
                <a:cubicBezTo>
                  <a:pt x="226494" y="78441"/>
                  <a:pt x="231458" y="116999"/>
                  <a:pt x="218695" y="151602"/>
                </a:cubicBezTo>
                <a:cubicBezTo>
                  <a:pt x="205613" y="187064"/>
                  <a:pt x="166718" y="205776"/>
                  <a:pt x="160654" y="250698"/>
                </a:cubicBezTo>
                <a:cubicBezTo>
                  <a:pt x="162884" y="250113"/>
                  <a:pt x="165169" y="249562"/>
                  <a:pt x="167399" y="249012"/>
                </a:cubicBezTo>
                <a:cubicBezTo>
                  <a:pt x="171463" y="247980"/>
                  <a:pt x="175604" y="250474"/>
                  <a:pt x="176614" y="254533"/>
                </a:cubicBezTo>
                <a:cubicBezTo>
                  <a:pt x="177614" y="258574"/>
                  <a:pt x="175154" y="262719"/>
                  <a:pt x="171100" y="263734"/>
                </a:cubicBezTo>
                <a:cubicBezTo>
                  <a:pt x="133480" y="273107"/>
                  <a:pt x="95870" y="282480"/>
                  <a:pt x="58260" y="291904"/>
                </a:cubicBezTo>
                <a:cubicBezTo>
                  <a:pt x="54196" y="292902"/>
                  <a:pt x="50055" y="290443"/>
                  <a:pt x="49044" y="286349"/>
                </a:cubicBezTo>
                <a:cubicBezTo>
                  <a:pt x="48045" y="282291"/>
                  <a:pt x="50505" y="278197"/>
                  <a:pt x="54558" y="277148"/>
                </a:cubicBezTo>
                <a:cubicBezTo>
                  <a:pt x="85292" y="269512"/>
                  <a:pt x="116026" y="261808"/>
                  <a:pt x="146748" y="254172"/>
                </a:cubicBezTo>
                <a:cubicBezTo>
                  <a:pt x="145650" y="252486"/>
                  <a:pt x="145288" y="250938"/>
                  <a:pt x="145562" y="248978"/>
                </a:cubicBezTo>
                <a:cubicBezTo>
                  <a:pt x="145980" y="245796"/>
                  <a:pt x="146518" y="242700"/>
                  <a:pt x="147254" y="239605"/>
                </a:cubicBezTo>
                <a:cubicBezTo>
                  <a:pt x="147935" y="236595"/>
                  <a:pt x="148759" y="233671"/>
                  <a:pt x="149758" y="230817"/>
                </a:cubicBezTo>
                <a:cubicBezTo>
                  <a:pt x="150670" y="228030"/>
                  <a:pt x="151724" y="225296"/>
                  <a:pt x="152900" y="222613"/>
                </a:cubicBezTo>
                <a:cubicBezTo>
                  <a:pt x="153998" y="220016"/>
                  <a:pt x="155228" y="217471"/>
                  <a:pt x="156546" y="214960"/>
                </a:cubicBezTo>
                <a:cubicBezTo>
                  <a:pt x="157832" y="212604"/>
                  <a:pt x="159237" y="210230"/>
                  <a:pt x="160654" y="207909"/>
                </a:cubicBezTo>
                <a:cubicBezTo>
                  <a:pt x="162071" y="205673"/>
                  <a:pt x="163532" y="203489"/>
                  <a:pt x="165037" y="201304"/>
                </a:cubicBezTo>
                <a:cubicBezTo>
                  <a:pt x="166487" y="199223"/>
                  <a:pt x="168036" y="197160"/>
                  <a:pt x="169596" y="195165"/>
                </a:cubicBezTo>
                <a:cubicBezTo>
                  <a:pt x="171100" y="193170"/>
                  <a:pt x="172649" y="191244"/>
                  <a:pt x="174198" y="189335"/>
                </a:cubicBezTo>
                <a:cubicBezTo>
                  <a:pt x="175747" y="187477"/>
                  <a:pt x="177252" y="185603"/>
                  <a:pt x="178800" y="183780"/>
                </a:cubicBezTo>
                <a:cubicBezTo>
                  <a:pt x="180217" y="182094"/>
                  <a:pt x="181623" y="180409"/>
                  <a:pt x="183040" y="178775"/>
                </a:cubicBezTo>
                <a:cubicBezTo>
                  <a:pt x="183765" y="177915"/>
                  <a:pt x="184501" y="177038"/>
                  <a:pt x="185182" y="176178"/>
                </a:cubicBezTo>
                <a:cubicBezTo>
                  <a:pt x="186599" y="174493"/>
                  <a:pt x="188005" y="172807"/>
                  <a:pt x="189334" y="171087"/>
                </a:cubicBezTo>
                <a:cubicBezTo>
                  <a:pt x="190652" y="169436"/>
                  <a:pt x="191926" y="167802"/>
                  <a:pt x="193212" y="166117"/>
                </a:cubicBezTo>
                <a:cubicBezTo>
                  <a:pt x="194398" y="164535"/>
                  <a:pt x="195573" y="162884"/>
                  <a:pt x="196672" y="161198"/>
                </a:cubicBezTo>
                <a:cubicBezTo>
                  <a:pt x="197715" y="159616"/>
                  <a:pt x="198770" y="157965"/>
                  <a:pt x="199725" y="156280"/>
                </a:cubicBezTo>
                <a:cubicBezTo>
                  <a:pt x="200637" y="154697"/>
                  <a:pt x="201505" y="153046"/>
                  <a:pt x="202328" y="151378"/>
                </a:cubicBezTo>
                <a:cubicBezTo>
                  <a:pt x="203097" y="149727"/>
                  <a:pt x="203833" y="148042"/>
                  <a:pt x="204470" y="146356"/>
                </a:cubicBezTo>
                <a:cubicBezTo>
                  <a:pt x="215498" y="116449"/>
                  <a:pt x="211171" y="83033"/>
                  <a:pt x="192937" y="56909"/>
                </a:cubicBezTo>
                <a:cubicBezTo>
                  <a:pt x="174648" y="30733"/>
                  <a:pt x="144738" y="15152"/>
                  <a:pt x="112829" y="15152"/>
                </a:cubicBezTo>
                <a:cubicBezTo>
                  <a:pt x="80920" y="15152"/>
                  <a:pt x="51010" y="30733"/>
                  <a:pt x="32722" y="56909"/>
                </a:cubicBezTo>
                <a:cubicBezTo>
                  <a:pt x="14488" y="83033"/>
                  <a:pt x="10160" y="116449"/>
                  <a:pt x="21188" y="146356"/>
                </a:cubicBezTo>
                <a:cubicBezTo>
                  <a:pt x="21650" y="147543"/>
                  <a:pt x="22144" y="148730"/>
                  <a:pt x="22649" y="149916"/>
                </a:cubicBezTo>
                <a:cubicBezTo>
                  <a:pt x="23199" y="151103"/>
                  <a:pt x="23748" y="152273"/>
                  <a:pt x="24341" y="153425"/>
                </a:cubicBezTo>
                <a:cubicBezTo>
                  <a:pt x="24978" y="154594"/>
                  <a:pt x="25615" y="155747"/>
                  <a:pt x="26296" y="156882"/>
                </a:cubicBezTo>
                <a:cubicBezTo>
                  <a:pt x="26977" y="158068"/>
                  <a:pt x="27669" y="159203"/>
                  <a:pt x="28438" y="160338"/>
                </a:cubicBezTo>
                <a:cubicBezTo>
                  <a:pt x="29218" y="161525"/>
                  <a:pt x="29987" y="162712"/>
                  <a:pt x="30811" y="163847"/>
                </a:cubicBezTo>
                <a:cubicBezTo>
                  <a:pt x="31316" y="164569"/>
                  <a:pt x="31810" y="165257"/>
                  <a:pt x="32359" y="165979"/>
                </a:cubicBezTo>
                <a:cubicBezTo>
                  <a:pt x="33227" y="167166"/>
                  <a:pt x="34139" y="168353"/>
                  <a:pt x="35050" y="169488"/>
                </a:cubicBezTo>
                <a:cubicBezTo>
                  <a:pt x="35962" y="170726"/>
                  <a:pt x="36918" y="171896"/>
                  <a:pt x="37873" y="173048"/>
                </a:cubicBezTo>
                <a:cubicBezTo>
                  <a:pt x="38884" y="174269"/>
                  <a:pt x="39884" y="175456"/>
                  <a:pt x="40883" y="176677"/>
                </a:cubicBezTo>
                <a:cubicBezTo>
                  <a:pt x="42025" y="178053"/>
                  <a:pt x="43212" y="179411"/>
                  <a:pt x="44354" y="180821"/>
                </a:cubicBezTo>
                <a:cubicBezTo>
                  <a:pt x="45584" y="182232"/>
                  <a:pt x="46815" y="183694"/>
                  <a:pt x="48001" y="185155"/>
                </a:cubicBezTo>
                <a:cubicBezTo>
                  <a:pt x="49088" y="186462"/>
                  <a:pt x="50187" y="187752"/>
                  <a:pt x="51230" y="189059"/>
                </a:cubicBezTo>
                <a:cubicBezTo>
                  <a:pt x="52329" y="190435"/>
                  <a:pt x="53427" y="191742"/>
                  <a:pt x="54514" y="193118"/>
                </a:cubicBezTo>
                <a:cubicBezTo>
                  <a:pt x="55613" y="194528"/>
                  <a:pt x="56711" y="195939"/>
                  <a:pt x="57755" y="197349"/>
                </a:cubicBezTo>
                <a:cubicBezTo>
                  <a:pt x="58853" y="198811"/>
                  <a:pt x="59897" y="200307"/>
                  <a:pt x="60951" y="201803"/>
                </a:cubicBezTo>
                <a:cubicBezTo>
                  <a:pt x="62039" y="203317"/>
                  <a:pt x="63038" y="204864"/>
                  <a:pt x="64093" y="206447"/>
                </a:cubicBezTo>
                <a:cubicBezTo>
                  <a:pt x="64730" y="207461"/>
                  <a:pt x="65323" y="208407"/>
                  <a:pt x="65916" y="209456"/>
                </a:cubicBezTo>
                <a:cubicBezTo>
                  <a:pt x="66916" y="211090"/>
                  <a:pt x="67871" y="212776"/>
                  <a:pt x="68838" y="214461"/>
                </a:cubicBezTo>
                <a:cubicBezTo>
                  <a:pt x="69749" y="216198"/>
                  <a:pt x="70661" y="217969"/>
                  <a:pt x="71474" y="219741"/>
                </a:cubicBezTo>
                <a:cubicBezTo>
                  <a:pt x="72342" y="221615"/>
                  <a:pt x="73166" y="223473"/>
                  <a:pt x="73934" y="225347"/>
                </a:cubicBezTo>
                <a:cubicBezTo>
                  <a:pt x="74714" y="227308"/>
                  <a:pt x="75395" y="229269"/>
                  <a:pt x="76087" y="231212"/>
                </a:cubicBezTo>
                <a:cubicBezTo>
                  <a:pt x="76724" y="233276"/>
                  <a:pt x="77318" y="235322"/>
                  <a:pt x="77856" y="237369"/>
                </a:cubicBezTo>
                <a:cubicBezTo>
                  <a:pt x="78910" y="241411"/>
                  <a:pt x="76450" y="245555"/>
                  <a:pt x="72386" y="246604"/>
                </a:cubicBezTo>
                <a:cubicBezTo>
                  <a:pt x="68333" y="247653"/>
                  <a:pt x="64180" y="245194"/>
                  <a:pt x="63181" y="241153"/>
                </a:cubicBezTo>
                <a:cubicBezTo>
                  <a:pt x="53328" y="202955"/>
                  <a:pt x="19090" y="184416"/>
                  <a:pt x="6964" y="151602"/>
                </a:cubicBezTo>
                <a:cubicBezTo>
                  <a:pt x="-5800" y="116999"/>
                  <a:pt x="-835" y="78441"/>
                  <a:pt x="20277" y="48206"/>
                </a:cubicBezTo>
                <a:cubicBezTo>
                  <a:pt x="41388" y="17989"/>
                  <a:pt x="75945" y="0"/>
                  <a:pt x="112829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4" name="Text 1"/>
          <p:cNvSpPr/>
          <p:nvPr/>
        </p:nvSpPr>
        <p:spPr>
          <a:xfrm>
            <a:off x="6057626" y="1401958"/>
            <a:ext cx="225674" cy="37152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5" name="Shape 2"/>
          <p:cNvSpPr/>
          <p:nvPr/>
        </p:nvSpPr>
        <p:spPr>
          <a:xfrm>
            <a:off x="6058906" y="3062051"/>
            <a:ext cx="248534" cy="228783"/>
          </a:xfrm>
          <a:custGeom>
            <a:avLst/>
            <a:gdLst/>
            <a:ahLst/>
            <a:cxnLst/>
            <a:rect l="l" t="t" r="r" b="b"/>
            <a:pathLst>
              <a:path w="248534" h="228783">
                <a:moveTo>
                  <a:pt x="69762" y="225675"/>
                </a:moveTo>
                <a:cubicBezTo>
                  <a:pt x="73223" y="229567"/>
                  <a:pt x="79274" y="229995"/>
                  <a:pt x="83594" y="226114"/>
                </a:cubicBezTo>
                <a:lnTo>
                  <a:pt x="245358" y="79766"/>
                </a:lnTo>
                <a:cubicBezTo>
                  <a:pt x="249249" y="76312"/>
                  <a:pt x="249678" y="70271"/>
                  <a:pt x="246218" y="65951"/>
                </a:cubicBezTo>
                <a:lnTo>
                  <a:pt x="204270" y="20187"/>
                </a:lnTo>
                <a:cubicBezTo>
                  <a:pt x="200368" y="15878"/>
                  <a:pt x="194317" y="15878"/>
                  <a:pt x="190426" y="19332"/>
                </a:cubicBezTo>
                <a:lnTo>
                  <a:pt x="52458" y="143653"/>
                </a:lnTo>
                <a:cubicBezTo>
                  <a:pt x="48568" y="147545"/>
                  <a:pt x="48138" y="153587"/>
                  <a:pt x="52028" y="157468"/>
                </a:cubicBezTo>
                <a:lnTo>
                  <a:pt x="74512" y="182510"/>
                </a:lnTo>
                <a:cubicBezTo>
                  <a:pt x="77973" y="186391"/>
                  <a:pt x="84465" y="186830"/>
                  <a:pt x="88355" y="182938"/>
                </a:cubicBezTo>
                <a:lnTo>
                  <a:pt x="146307" y="130705"/>
                </a:lnTo>
                <a:cubicBezTo>
                  <a:pt x="150197" y="127251"/>
                  <a:pt x="150639" y="120772"/>
                  <a:pt x="147178" y="116890"/>
                </a:cubicBezTo>
                <a:lnTo>
                  <a:pt x="140256" y="109555"/>
                </a:lnTo>
                <a:lnTo>
                  <a:pt x="82305" y="162216"/>
                </a:lnTo>
                <a:lnTo>
                  <a:pt x="73223" y="151855"/>
                </a:lnTo>
                <a:lnTo>
                  <a:pt x="196477" y="40482"/>
                </a:lnTo>
                <a:lnTo>
                  <a:pt x="225023" y="71992"/>
                </a:lnTo>
                <a:lnTo>
                  <a:pt x="77543" y="205392"/>
                </a:lnTo>
                <a:lnTo>
                  <a:pt x="23912" y="145813"/>
                </a:lnTo>
                <a:lnTo>
                  <a:pt x="173564" y="10265"/>
                </a:lnTo>
                <a:lnTo>
                  <a:pt x="167072" y="3357"/>
                </a:lnTo>
                <a:cubicBezTo>
                  <a:pt x="163181" y="-962"/>
                  <a:pt x="157119" y="-962"/>
                  <a:pt x="153228" y="2491"/>
                </a:cubicBezTo>
                <a:lnTo>
                  <a:pt x="3147" y="138040"/>
                </a:lnTo>
                <a:cubicBezTo>
                  <a:pt x="-743" y="141494"/>
                  <a:pt x="-1173" y="147545"/>
                  <a:pt x="2718" y="151855"/>
                </a:cubicBezTo>
                <a:lnTo>
                  <a:pt x="69762" y="225675"/>
                </a:lnTo>
                <a:close/>
              </a:path>
            </a:pathLst>
          </a:custGeom>
          <a:solidFill>
            <a:srgbClr val="4674EB"/>
          </a:solidFill>
        </p:spPr>
      </p:sp>
      <p:sp>
        <p:nvSpPr>
          <p:cNvPr id="6" name="Text 3"/>
          <p:cNvSpPr/>
          <p:nvPr/>
        </p:nvSpPr>
        <p:spPr>
          <a:xfrm>
            <a:off x="6058906" y="3062051"/>
            <a:ext cx="248534" cy="22878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7" name="Text 4"/>
          <p:cNvSpPr/>
          <p:nvPr/>
        </p:nvSpPr>
        <p:spPr>
          <a:xfrm>
            <a:off x="6019038" y="1817004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人走路时脚向后蹬地，有相对地面向后运动趋势，地面给脚向前的静摩擦力，此力与相对运动趋势相反，其方向可用假设接触面光滑判断。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6390559" y="1426464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与相对运动趋势相反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6019038" y="3394436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物体在斜面下滑时，若斜面粗糙，通过比较重力沿斜面分力与最大静摩擦力可判断运动方向；传送带上的箱子，摩擦力方向与相对运动趋势相关，影响其运动状态。</a:t>
            </a:r>
            <a:endParaRPr lang="en-US" sz="1460" dirty="0"/>
          </a:p>
        </p:txBody>
      </p:sp>
      <p:sp>
        <p:nvSpPr>
          <p:cNvPr id="10" name="Text 7"/>
          <p:cNvSpPr/>
          <p:nvPr/>
        </p:nvSpPr>
        <p:spPr>
          <a:xfrm>
            <a:off x="6390559" y="3038917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举例说明不同情况</a:t>
            </a:r>
            <a:endParaRPr lang="en-US" sz="1460" dirty="0"/>
          </a:p>
        </p:txBody>
      </p:sp>
      <p:sp>
        <p:nvSpPr>
          <p:cNvPr id="11" name="Text 8"/>
          <p:cNvSpPr/>
          <p:nvPr/>
        </p:nvSpPr>
        <p:spPr>
          <a:xfrm>
            <a:off x="847283" y="99578"/>
            <a:ext cx="7588057" cy="462772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方向判断方法</a:t>
            </a:r>
            <a:endParaRPr lang="en-US" sz="146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85" y="953953"/>
            <a:ext cx="3534886" cy="3235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89" y="1111087"/>
            <a:ext cx="5137831" cy="415766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345"/>
              </a:lnSpc>
              <a:spcBef>
                <a:spcPts val="365"/>
              </a:spcBef>
              <a:buNone/>
            </a:pPr>
            <a:r>
              <a:rPr lang="en-US" sz="16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接触面粗糙程度</a:t>
            </a:r>
            <a:endParaRPr lang="en-US" sz="1460" dirty="0"/>
          </a:p>
        </p:txBody>
      </p:sp>
      <p:sp>
        <p:nvSpPr>
          <p:cNvPr id="4" name="Text 1"/>
          <p:cNvSpPr/>
          <p:nvPr/>
        </p:nvSpPr>
        <p:spPr>
          <a:xfrm>
            <a:off x="622889" y="1620225"/>
            <a:ext cx="5137831" cy="36861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砂纸表面比玻璃表面更粗糙，与物体接触时，前者因微观凸起更多，增大摩擦系数，在相同压力下能产生更大阻碍相对运动的力，体现接触面状态对摩擦的影响。</a:t>
            </a:r>
            <a:endParaRPr lang="en-US" sz="1460" dirty="0"/>
          </a:p>
        </p:txBody>
      </p:sp>
      <p:sp>
        <p:nvSpPr>
          <p:cNvPr id="5" name="Text 2"/>
          <p:cNvSpPr/>
          <p:nvPr/>
        </p:nvSpPr>
        <p:spPr>
          <a:xfrm>
            <a:off x="567202" y="3011851"/>
            <a:ext cx="4980645" cy="415766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345"/>
              </a:lnSpc>
              <a:spcBef>
                <a:spcPts val="365"/>
              </a:spcBef>
              <a:buNone/>
            </a:pPr>
            <a:r>
              <a:rPr lang="en-US" sz="16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正压力大小</a:t>
            </a:r>
            <a:endParaRPr lang="en-US" sz="1460" dirty="0"/>
          </a:p>
        </p:txBody>
      </p:sp>
      <p:sp>
        <p:nvSpPr>
          <p:cNvPr id="6" name="Text 3"/>
          <p:cNvSpPr/>
          <p:nvPr/>
        </p:nvSpPr>
        <p:spPr>
          <a:xfrm>
            <a:off x="567202" y="3534430"/>
            <a:ext cx="5194981" cy="36861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物体静止在水平面上，其正压力等于自身重力。若在物体上增加重物，正压力增大，此时接触面粗糙程度不变，摩擦力也随正压力增大而增大。</a:t>
            </a:r>
            <a:endParaRPr lang="en-US" sz="1460" dirty="0"/>
          </a:p>
        </p:txBody>
      </p:sp>
      <p:sp>
        <p:nvSpPr>
          <p:cNvPr id="7" name="Shape 4"/>
          <p:cNvSpPr/>
          <p:nvPr/>
        </p:nvSpPr>
        <p:spPr>
          <a:xfrm>
            <a:off x="663306" y="4466295"/>
            <a:ext cx="526146" cy="92263"/>
          </a:xfrm>
          <a:custGeom>
            <a:avLst/>
            <a:gdLst/>
            <a:ahLst/>
            <a:cxnLst/>
            <a:rect l="l" t="t" r="r" b="b"/>
            <a:pathLst>
              <a:path w="526146" h="92263">
                <a:moveTo>
                  <a:pt x="0" y="0"/>
                </a:moveTo>
                <a:lnTo>
                  <a:pt x="526146" y="0"/>
                </a:lnTo>
                <a:lnTo>
                  <a:pt x="526146" y="92263"/>
                </a:lnTo>
                <a:lnTo>
                  <a:pt x="0" y="92263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8" name="Text 5"/>
          <p:cNvSpPr/>
          <p:nvPr/>
        </p:nvSpPr>
        <p:spPr>
          <a:xfrm>
            <a:off x="663306" y="4466295"/>
            <a:ext cx="526146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9" name="Shape 6"/>
          <p:cNvSpPr/>
          <p:nvPr/>
        </p:nvSpPr>
        <p:spPr>
          <a:xfrm>
            <a:off x="623621" y="4466295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0" name="Text 7"/>
          <p:cNvSpPr/>
          <p:nvPr/>
        </p:nvSpPr>
        <p:spPr>
          <a:xfrm>
            <a:off x="623621" y="4466295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1" name="Shape 8"/>
          <p:cNvSpPr/>
          <p:nvPr/>
        </p:nvSpPr>
        <p:spPr>
          <a:xfrm>
            <a:off x="1135685" y="4466295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2" name="Text 9"/>
          <p:cNvSpPr/>
          <p:nvPr/>
        </p:nvSpPr>
        <p:spPr>
          <a:xfrm>
            <a:off x="1135685" y="4466295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3" name="Shape 10"/>
          <p:cNvSpPr/>
          <p:nvPr/>
        </p:nvSpPr>
        <p:spPr>
          <a:xfrm>
            <a:off x="1189360" y="4535655"/>
            <a:ext cx="4340081" cy="0"/>
          </a:xfrm>
          <a:custGeom>
            <a:avLst/>
            <a:gdLst/>
            <a:ahLst/>
            <a:cxnLst/>
            <a:rect l="l" t="t" r="r" b="b"/>
            <a:pathLst>
              <a:path w="4340081">
                <a:moveTo>
                  <a:pt x="0" y="0"/>
                </a:moveTo>
                <a:lnTo>
                  <a:pt x="4340081" y="0"/>
                </a:lnTo>
              </a:path>
            </a:pathLst>
          </a:custGeom>
          <a:noFill/>
          <a:ln w="10430">
            <a:solidFill>
              <a:srgbClr val="4674EB"/>
            </a:solidFill>
            <a:prstDash val="dash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39531" y="2722077"/>
            <a:ext cx="526146" cy="92263"/>
          </a:xfrm>
          <a:custGeom>
            <a:avLst/>
            <a:gdLst/>
            <a:ahLst/>
            <a:cxnLst/>
            <a:rect l="l" t="t" r="r" b="b"/>
            <a:pathLst>
              <a:path w="526146" h="92263">
                <a:moveTo>
                  <a:pt x="0" y="0"/>
                </a:moveTo>
                <a:lnTo>
                  <a:pt x="526146" y="0"/>
                </a:lnTo>
                <a:lnTo>
                  <a:pt x="526146" y="92263"/>
                </a:lnTo>
                <a:lnTo>
                  <a:pt x="0" y="92263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15" name="Text 12"/>
          <p:cNvSpPr/>
          <p:nvPr/>
        </p:nvSpPr>
        <p:spPr>
          <a:xfrm>
            <a:off x="639531" y="2722077"/>
            <a:ext cx="526146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6" name="Shape 13"/>
          <p:cNvSpPr/>
          <p:nvPr/>
        </p:nvSpPr>
        <p:spPr>
          <a:xfrm>
            <a:off x="599846" y="2722077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7" name="Text 14"/>
          <p:cNvSpPr/>
          <p:nvPr/>
        </p:nvSpPr>
        <p:spPr>
          <a:xfrm>
            <a:off x="599846" y="2722077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8" name="Shape 15"/>
          <p:cNvSpPr/>
          <p:nvPr/>
        </p:nvSpPr>
        <p:spPr>
          <a:xfrm>
            <a:off x="1111910" y="2722077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9" name="Text 16"/>
          <p:cNvSpPr/>
          <p:nvPr/>
        </p:nvSpPr>
        <p:spPr>
          <a:xfrm>
            <a:off x="1111910" y="2722077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20" name="Shape 17"/>
          <p:cNvSpPr/>
          <p:nvPr/>
        </p:nvSpPr>
        <p:spPr>
          <a:xfrm>
            <a:off x="1165586" y="2807135"/>
            <a:ext cx="4405944" cy="0"/>
          </a:xfrm>
          <a:custGeom>
            <a:avLst/>
            <a:gdLst/>
            <a:ahLst/>
            <a:cxnLst/>
            <a:rect l="l" t="t" r="r" b="b"/>
            <a:pathLst>
              <a:path w="4405944">
                <a:moveTo>
                  <a:pt x="0" y="0"/>
                </a:moveTo>
                <a:lnTo>
                  <a:pt x="4405944" y="0"/>
                </a:lnTo>
              </a:path>
            </a:pathLst>
          </a:custGeom>
          <a:noFill/>
          <a:ln w="10430">
            <a:solidFill>
              <a:srgbClr val="4674EB"/>
            </a:solidFill>
            <a:prstDash val="dash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916777" y="110002"/>
            <a:ext cx="7588057" cy="4810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影响因素分析</a:t>
            </a:r>
            <a:endParaRPr lang="en-US" sz="146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52434" y="974476"/>
            <a:ext cx="2759842" cy="3679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63361" y="2206813"/>
            <a:ext cx="4475622" cy="546783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980"/>
              </a:lnSpc>
              <a:spcBef>
                <a:spcPts val="365"/>
              </a:spcBef>
              <a:buNone/>
            </a:pPr>
            <a:r>
              <a:rPr lang="en-US" sz="284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摩檫力的计算与应用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1524945" y="1743304"/>
            <a:ext cx="1973092" cy="97597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8675"/>
              </a:lnSpc>
              <a:spcBef>
                <a:spcPts val="365"/>
              </a:spcBef>
              <a:buNone/>
            </a:pPr>
            <a:r>
              <a:rPr lang="en-US" sz="62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60" dirty="0"/>
          </a:p>
        </p:txBody>
      </p:sp>
      <p:sp>
        <p:nvSpPr>
          <p:cNvPr id="6" name="Shape 2"/>
          <p:cNvSpPr/>
          <p:nvPr/>
        </p:nvSpPr>
        <p:spPr>
          <a:xfrm>
            <a:off x="3520440" y="2386943"/>
            <a:ext cx="0" cy="485181"/>
          </a:xfrm>
          <a:custGeom>
            <a:avLst/>
            <a:gdLst/>
            <a:ahLst/>
            <a:cxnLst/>
            <a:rect l="l" t="t" r="r" b="b"/>
            <a:pathLst>
              <a:path h="485181">
                <a:moveTo>
                  <a:pt x="0" y="0"/>
                </a:moveTo>
                <a:lnTo>
                  <a:pt x="0" y="485181"/>
                </a:lnTo>
              </a:path>
            </a:pathLst>
          </a:custGeom>
          <a:noFill/>
          <a:ln w="27813">
            <a:solidFill>
              <a:srgbClr val="90ACF3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4637" y="1061527"/>
            <a:ext cx="3632637" cy="3632454"/>
          </a:xfrm>
          <a:prstGeom prst="ellipse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46285" y="1554389"/>
            <a:ext cx="4290090" cy="368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计算物体在水平面上滑动时受的摩擦力，可用公式F=μN，其中μ是动摩擦因数，与接触面材料有关，N是正压力，如木块在木板上滑动，μ取0.3，N为10N，则摩擦力为3N。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4746285" y="1064544"/>
            <a:ext cx="4292742" cy="37861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滑动摩擦力公式</a:t>
            </a:r>
            <a:endParaRPr lang="en-US" sz="1460" dirty="0"/>
          </a:p>
        </p:txBody>
      </p:sp>
      <p:sp>
        <p:nvSpPr>
          <p:cNvPr id="6" name="Text 2"/>
          <p:cNvSpPr/>
          <p:nvPr/>
        </p:nvSpPr>
        <p:spPr>
          <a:xfrm>
            <a:off x="4746285" y="3424519"/>
            <a:ext cx="4290090" cy="368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物体静止在水平面上受拉力作用时，静摩擦力随外力增大从零开始增加，但始终小于等于最大静摩擦力μsN，当外力达μsN时物体开始滑动。</a:t>
            </a:r>
            <a:endParaRPr lang="en-US" sz="1460" dirty="0"/>
          </a:p>
        </p:txBody>
      </p:sp>
      <p:sp>
        <p:nvSpPr>
          <p:cNvPr id="7" name="Text 3"/>
          <p:cNvSpPr/>
          <p:nvPr/>
        </p:nvSpPr>
        <p:spPr>
          <a:xfrm>
            <a:off x="4746285" y="2952963"/>
            <a:ext cx="4290090" cy="37861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静摩擦力取值范围</a:t>
            </a:r>
            <a:endParaRPr lang="en-US" sz="1460" dirty="0"/>
          </a:p>
        </p:txBody>
      </p:sp>
      <p:sp>
        <p:nvSpPr>
          <p:cNvPr id="8" name="Text 4"/>
          <p:cNvSpPr/>
          <p:nvPr/>
        </p:nvSpPr>
        <p:spPr>
          <a:xfrm>
            <a:off x="916777" y="110002"/>
            <a:ext cx="7588057" cy="4810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计算公式介绍</a:t>
            </a:r>
            <a:endParaRPr lang="en-US" sz="14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57626" y="1401958"/>
            <a:ext cx="225674" cy="371521"/>
          </a:xfrm>
          <a:custGeom>
            <a:avLst/>
            <a:gdLst/>
            <a:ahLst/>
            <a:cxnLst/>
            <a:rect l="l" t="t" r="r" b="b"/>
            <a:pathLst>
              <a:path w="225674" h="371521">
                <a:moveTo>
                  <a:pt x="85105" y="348383"/>
                </a:moveTo>
                <a:cubicBezTo>
                  <a:pt x="88159" y="345511"/>
                  <a:pt x="92992" y="345752"/>
                  <a:pt x="95826" y="348847"/>
                </a:cubicBezTo>
                <a:cubicBezTo>
                  <a:pt x="104943" y="358822"/>
                  <a:pt x="120716" y="358822"/>
                  <a:pt x="129833" y="348847"/>
                </a:cubicBezTo>
                <a:cubicBezTo>
                  <a:pt x="132667" y="345752"/>
                  <a:pt x="137489" y="345511"/>
                  <a:pt x="140553" y="348383"/>
                </a:cubicBezTo>
                <a:cubicBezTo>
                  <a:pt x="143651" y="351221"/>
                  <a:pt x="143882" y="356002"/>
                  <a:pt x="141048" y="359098"/>
                </a:cubicBezTo>
                <a:cubicBezTo>
                  <a:pt x="133798" y="366974"/>
                  <a:pt x="123539" y="371480"/>
                  <a:pt x="112829" y="371480"/>
                </a:cubicBezTo>
                <a:cubicBezTo>
                  <a:pt x="102120" y="371480"/>
                  <a:pt x="91861" y="366974"/>
                  <a:pt x="84611" y="359098"/>
                </a:cubicBezTo>
                <a:cubicBezTo>
                  <a:pt x="81777" y="356002"/>
                  <a:pt x="82008" y="351221"/>
                  <a:pt x="85105" y="348383"/>
                </a:cubicBezTo>
                <a:moveTo>
                  <a:pt x="167388" y="304218"/>
                </a:moveTo>
                <a:cubicBezTo>
                  <a:pt x="171441" y="303221"/>
                  <a:pt x="175593" y="305680"/>
                  <a:pt x="176592" y="309773"/>
                </a:cubicBezTo>
                <a:cubicBezTo>
                  <a:pt x="177603" y="313815"/>
                  <a:pt x="175143" y="317925"/>
                  <a:pt x="171078" y="318923"/>
                </a:cubicBezTo>
                <a:cubicBezTo>
                  <a:pt x="133480" y="328347"/>
                  <a:pt x="95870" y="337720"/>
                  <a:pt x="58271" y="347110"/>
                </a:cubicBezTo>
                <a:cubicBezTo>
                  <a:pt x="54218" y="348108"/>
                  <a:pt x="50066" y="345649"/>
                  <a:pt x="49066" y="341590"/>
                </a:cubicBezTo>
                <a:cubicBezTo>
                  <a:pt x="48056" y="337548"/>
                  <a:pt x="50516" y="333404"/>
                  <a:pt x="54580" y="332406"/>
                </a:cubicBezTo>
                <a:cubicBezTo>
                  <a:pt x="92179" y="323016"/>
                  <a:pt x="129789" y="313643"/>
                  <a:pt x="167388" y="304218"/>
                </a:cubicBezTo>
                <a:moveTo>
                  <a:pt x="167388" y="276667"/>
                </a:moveTo>
                <a:cubicBezTo>
                  <a:pt x="171441" y="275618"/>
                  <a:pt x="175593" y="278077"/>
                  <a:pt x="176592" y="282170"/>
                </a:cubicBezTo>
                <a:cubicBezTo>
                  <a:pt x="177603" y="286212"/>
                  <a:pt x="175143" y="290305"/>
                  <a:pt x="171078" y="291354"/>
                </a:cubicBezTo>
                <a:cubicBezTo>
                  <a:pt x="133480" y="300727"/>
                  <a:pt x="95870" y="310083"/>
                  <a:pt x="58271" y="319456"/>
                </a:cubicBezTo>
                <a:cubicBezTo>
                  <a:pt x="54218" y="320505"/>
                  <a:pt x="50066" y="318011"/>
                  <a:pt x="49066" y="313952"/>
                </a:cubicBezTo>
                <a:cubicBezTo>
                  <a:pt x="48056" y="309911"/>
                  <a:pt x="50516" y="305818"/>
                  <a:pt x="54580" y="304769"/>
                </a:cubicBezTo>
                <a:cubicBezTo>
                  <a:pt x="92179" y="295396"/>
                  <a:pt x="129789" y="286023"/>
                  <a:pt x="167388" y="276667"/>
                </a:cubicBezTo>
                <a:moveTo>
                  <a:pt x="112851" y="138738"/>
                </a:moveTo>
                <a:cubicBezTo>
                  <a:pt x="115630" y="138738"/>
                  <a:pt x="118365" y="138824"/>
                  <a:pt x="121100" y="139013"/>
                </a:cubicBezTo>
                <a:cubicBezTo>
                  <a:pt x="123879" y="139236"/>
                  <a:pt x="126658" y="139511"/>
                  <a:pt x="129394" y="139924"/>
                </a:cubicBezTo>
                <a:cubicBezTo>
                  <a:pt x="132129" y="140320"/>
                  <a:pt x="134908" y="140836"/>
                  <a:pt x="137643" y="141420"/>
                </a:cubicBezTo>
                <a:cubicBezTo>
                  <a:pt x="140378" y="142057"/>
                  <a:pt x="143113" y="142745"/>
                  <a:pt x="145848" y="143553"/>
                </a:cubicBezTo>
                <a:cubicBezTo>
                  <a:pt x="151779" y="145290"/>
                  <a:pt x="153229" y="153029"/>
                  <a:pt x="148352" y="156813"/>
                </a:cubicBezTo>
                <a:cubicBezTo>
                  <a:pt x="148133" y="157002"/>
                  <a:pt x="147902" y="157174"/>
                  <a:pt x="147671" y="157398"/>
                </a:cubicBezTo>
                <a:cubicBezTo>
                  <a:pt x="147440" y="157638"/>
                  <a:pt x="147177" y="157862"/>
                  <a:pt x="146946" y="158085"/>
                </a:cubicBezTo>
                <a:cubicBezTo>
                  <a:pt x="146716" y="158361"/>
                  <a:pt x="146441" y="158636"/>
                  <a:pt x="146210" y="158911"/>
                </a:cubicBezTo>
                <a:cubicBezTo>
                  <a:pt x="145947" y="159221"/>
                  <a:pt x="145716" y="159547"/>
                  <a:pt x="145441" y="159857"/>
                </a:cubicBezTo>
                <a:cubicBezTo>
                  <a:pt x="145167" y="160235"/>
                  <a:pt x="144936" y="160596"/>
                  <a:pt x="144662" y="161009"/>
                </a:cubicBezTo>
                <a:cubicBezTo>
                  <a:pt x="144387" y="161422"/>
                  <a:pt x="144167" y="161817"/>
                  <a:pt x="143893" y="162230"/>
                </a:cubicBezTo>
                <a:cubicBezTo>
                  <a:pt x="143618" y="162695"/>
                  <a:pt x="143387" y="163142"/>
                  <a:pt x="143113" y="163606"/>
                </a:cubicBezTo>
                <a:cubicBezTo>
                  <a:pt x="142893" y="164053"/>
                  <a:pt x="142662" y="164518"/>
                  <a:pt x="142432" y="164965"/>
                </a:cubicBezTo>
                <a:cubicBezTo>
                  <a:pt x="142157" y="165515"/>
                  <a:pt x="141926" y="166065"/>
                  <a:pt x="141663" y="166599"/>
                </a:cubicBezTo>
                <a:cubicBezTo>
                  <a:pt x="141432" y="167201"/>
                  <a:pt x="141158" y="167785"/>
                  <a:pt x="140927" y="168387"/>
                </a:cubicBezTo>
                <a:cubicBezTo>
                  <a:pt x="140652" y="169024"/>
                  <a:pt x="140422" y="169660"/>
                  <a:pt x="140202" y="170348"/>
                </a:cubicBezTo>
                <a:cubicBezTo>
                  <a:pt x="139927" y="171019"/>
                  <a:pt x="139697" y="171706"/>
                  <a:pt x="139466" y="172394"/>
                </a:cubicBezTo>
                <a:cubicBezTo>
                  <a:pt x="139246" y="173117"/>
                  <a:pt x="139016" y="173839"/>
                  <a:pt x="138785" y="174579"/>
                </a:cubicBezTo>
                <a:cubicBezTo>
                  <a:pt x="138554" y="175352"/>
                  <a:pt x="138335" y="176126"/>
                  <a:pt x="138104" y="176900"/>
                </a:cubicBezTo>
                <a:cubicBezTo>
                  <a:pt x="137873" y="177726"/>
                  <a:pt x="137643" y="178586"/>
                  <a:pt x="137467" y="179394"/>
                </a:cubicBezTo>
                <a:cubicBezTo>
                  <a:pt x="137236" y="180271"/>
                  <a:pt x="137006" y="181131"/>
                  <a:pt x="136830" y="181991"/>
                </a:cubicBezTo>
                <a:cubicBezTo>
                  <a:pt x="136599" y="182902"/>
                  <a:pt x="136412" y="183814"/>
                  <a:pt x="136237" y="184725"/>
                </a:cubicBezTo>
                <a:cubicBezTo>
                  <a:pt x="135819" y="186686"/>
                  <a:pt x="135413" y="188595"/>
                  <a:pt x="135094" y="190556"/>
                </a:cubicBezTo>
                <a:cubicBezTo>
                  <a:pt x="134732" y="192705"/>
                  <a:pt x="134369" y="194838"/>
                  <a:pt x="134095" y="196936"/>
                </a:cubicBezTo>
                <a:cubicBezTo>
                  <a:pt x="133820" y="198708"/>
                  <a:pt x="133589" y="200496"/>
                  <a:pt x="133359" y="202268"/>
                </a:cubicBezTo>
                <a:cubicBezTo>
                  <a:pt x="133084" y="204675"/>
                  <a:pt x="132810" y="207135"/>
                  <a:pt x="132590" y="209542"/>
                </a:cubicBezTo>
                <a:cubicBezTo>
                  <a:pt x="132315" y="212139"/>
                  <a:pt x="132085" y="214736"/>
                  <a:pt x="131854" y="217333"/>
                </a:cubicBezTo>
                <a:cubicBezTo>
                  <a:pt x="131678" y="220068"/>
                  <a:pt x="131491" y="222854"/>
                  <a:pt x="131316" y="225623"/>
                </a:cubicBezTo>
                <a:cubicBezTo>
                  <a:pt x="131085" y="229819"/>
                  <a:pt x="127482" y="233001"/>
                  <a:pt x="123286" y="232725"/>
                </a:cubicBezTo>
                <a:cubicBezTo>
                  <a:pt x="119090" y="232502"/>
                  <a:pt x="115905" y="228908"/>
                  <a:pt x="116180" y="224711"/>
                </a:cubicBezTo>
                <a:cubicBezTo>
                  <a:pt x="116410" y="220945"/>
                  <a:pt x="116630" y="217161"/>
                  <a:pt x="116948" y="213429"/>
                </a:cubicBezTo>
                <a:cubicBezTo>
                  <a:pt x="117135" y="211606"/>
                  <a:pt x="117267" y="209818"/>
                  <a:pt x="117454" y="208046"/>
                </a:cubicBezTo>
                <a:cubicBezTo>
                  <a:pt x="117640" y="206309"/>
                  <a:pt x="117816" y="204641"/>
                  <a:pt x="118003" y="202904"/>
                </a:cubicBezTo>
                <a:cubicBezTo>
                  <a:pt x="118179" y="201270"/>
                  <a:pt x="118409" y="199619"/>
                  <a:pt x="118596" y="197985"/>
                </a:cubicBezTo>
                <a:cubicBezTo>
                  <a:pt x="118728" y="196885"/>
                  <a:pt x="118915" y="195835"/>
                  <a:pt x="119046" y="194804"/>
                </a:cubicBezTo>
                <a:cubicBezTo>
                  <a:pt x="119277" y="193239"/>
                  <a:pt x="119508" y="191742"/>
                  <a:pt x="119782" y="190194"/>
                </a:cubicBezTo>
                <a:cubicBezTo>
                  <a:pt x="120002" y="188733"/>
                  <a:pt x="120233" y="187288"/>
                  <a:pt x="120507" y="185775"/>
                </a:cubicBezTo>
                <a:cubicBezTo>
                  <a:pt x="120782" y="184416"/>
                  <a:pt x="121057" y="183006"/>
                  <a:pt x="121375" y="181595"/>
                </a:cubicBezTo>
                <a:cubicBezTo>
                  <a:pt x="121650" y="180271"/>
                  <a:pt x="121924" y="178947"/>
                  <a:pt x="122243" y="177588"/>
                </a:cubicBezTo>
                <a:cubicBezTo>
                  <a:pt x="122561" y="176298"/>
                  <a:pt x="122880" y="175077"/>
                  <a:pt x="123198" y="173805"/>
                </a:cubicBezTo>
                <a:cubicBezTo>
                  <a:pt x="123517" y="172566"/>
                  <a:pt x="123879" y="171380"/>
                  <a:pt x="124242" y="170210"/>
                </a:cubicBezTo>
                <a:cubicBezTo>
                  <a:pt x="124615" y="169024"/>
                  <a:pt x="124978" y="167888"/>
                  <a:pt x="125340" y="166736"/>
                </a:cubicBezTo>
                <a:cubicBezTo>
                  <a:pt x="125703" y="165687"/>
                  <a:pt x="126120" y="164604"/>
                  <a:pt x="126527" y="163503"/>
                </a:cubicBezTo>
                <a:cubicBezTo>
                  <a:pt x="126933" y="162505"/>
                  <a:pt x="127350" y="161508"/>
                  <a:pt x="127801" y="160510"/>
                </a:cubicBezTo>
                <a:cubicBezTo>
                  <a:pt x="128207" y="159496"/>
                  <a:pt x="128669" y="158550"/>
                  <a:pt x="129119" y="157638"/>
                </a:cubicBezTo>
                <a:cubicBezTo>
                  <a:pt x="129350" y="157174"/>
                  <a:pt x="129580" y="156761"/>
                  <a:pt x="129811" y="156366"/>
                </a:cubicBezTo>
                <a:cubicBezTo>
                  <a:pt x="129943" y="156090"/>
                  <a:pt x="130129" y="155764"/>
                  <a:pt x="130305" y="155454"/>
                </a:cubicBezTo>
                <a:cubicBezTo>
                  <a:pt x="129262" y="155265"/>
                  <a:pt x="128207" y="155076"/>
                  <a:pt x="127164" y="154938"/>
                </a:cubicBezTo>
                <a:cubicBezTo>
                  <a:pt x="124791" y="154577"/>
                  <a:pt x="122419" y="154302"/>
                  <a:pt x="120002" y="154130"/>
                </a:cubicBezTo>
                <a:cubicBezTo>
                  <a:pt x="117640" y="153992"/>
                  <a:pt x="115224" y="153906"/>
                  <a:pt x="112851" y="153906"/>
                </a:cubicBezTo>
                <a:cubicBezTo>
                  <a:pt x="110479" y="153906"/>
                  <a:pt x="108062" y="153941"/>
                  <a:pt x="105690" y="154130"/>
                </a:cubicBezTo>
                <a:cubicBezTo>
                  <a:pt x="103284" y="154302"/>
                  <a:pt x="100912" y="154577"/>
                  <a:pt x="98539" y="154938"/>
                </a:cubicBezTo>
                <a:cubicBezTo>
                  <a:pt x="97495" y="155076"/>
                  <a:pt x="96441" y="155265"/>
                  <a:pt x="95398" y="155454"/>
                </a:cubicBezTo>
                <a:cubicBezTo>
                  <a:pt x="95573" y="155764"/>
                  <a:pt x="95760" y="156090"/>
                  <a:pt x="95936" y="156366"/>
                </a:cubicBezTo>
                <a:cubicBezTo>
                  <a:pt x="96122" y="156761"/>
                  <a:pt x="96353" y="157174"/>
                  <a:pt x="96584" y="157638"/>
                </a:cubicBezTo>
                <a:cubicBezTo>
                  <a:pt x="97034" y="158550"/>
                  <a:pt x="97495" y="159496"/>
                  <a:pt x="97902" y="160510"/>
                </a:cubicBezTo>
                <a:cubicBezTo>
                  <a:pt x="98352" y="161508"/>
                  <a:pt x="98770" y="162505"/>
                  <a:pt x="99176" y="163503"/>
                </a:cubicBezTo>
                <a:cubicBezTo>
                  <a:pt x="99582" y="164604"/>
                  <a:pt x="100000" y="165687"/>
                  <a:pt x="100362" y="166736"/>
                </a:cubicBezTo>
                <a:cubicBezTo>
                  <a:pt x="100725" y="167888"/>
                  <a:pt x="101087" y="169024"/>
                  <a:pt x="101461" y="170210"/>
                </a:cubicBezTo>
                <a:cubicBezTo>
                  <a:pt x="101823" y="171380"/>
                  <a:pt x="102186" y="172566"/>
                  <a:pt x="102504" y="173805"/>
                </a:cubicBezTo>
                <a:cubicBezTo>
                  <a:pt x="102823" y="175077"/>
                  <a:pt x="103141" y="176298"/>
                  <a:pt x="103460" y="177588"/>
                </a:cubicBezTo>
                <a:cubicBezTo>
                  <a:pt x="103778" y="178947"/>
                  <a:pt x="104053" y="180271"/>
                  <a:pt x="104328" y="181595"/>
                </a:cubicBezTo>
                <a:cubicBezTo>
                  <a:pt x="104646" y="183006"/>
                  <a:pt x="104921" y="184416"/>
                  <a:pt x="105195" y="185775"/>
                </a:cubicBezTo>
                <a:cubicBezTo>
                  <a:pt x="105470" y="187288"/>
                  <a:pt x="105690" y="188733"/>
                  <a:pt x="105964" y="190194"/>
                </a:cubicBezTo>
                <a:cubicBezTo>
                  <a:pt x="106195" y="191742"/>
                  <a:pt x="106426" y="193239"/>
                  <a:pt x="106656" y="194804"/>
                </a:cubicBezTo>
                <a:cubicBezTo>
                  <a:pt x="107063" y="197486"/>
                  <a:pt x="107381" y="200221"/>
                  <a:pt x="107700" y="202904"/>
                </a:cubicBezTo>
                <a:cubicBezTo>
                  <a:pt x="108106" y="206412"/>
                  <a:pt x="108425" y="209921"/>
                  <a:pt x="108754" y="213429"/>
                </a:cubicBezTo>
                <a:cubicBezTo>
                  <a:pt x="109073" y="217161"/>
                  <a:pt x="109336" y="220945"/>
                  <a:pt x="109523" y="224711"/>
                </a:cubicBezTo>
                <a:cubicBezTo>
                  <a:pt x="109798" y="228908"/>
                  <a:pt x="106601" y="232502"/>
                  <a:pt x="102416" y="232725"/>
                </a:cubicBezTo>
                <a:cubicBezTo>
                  <a:pt x="98220" y="233001"/>
                  <a:pt x="94618" y="229819"/>
                  <a:pt x="94387" y="225623"/>
                </a:cubicBezTo>
                <a:cubicBezTo>
                  <a:pt x="94211" y="222854"/>
                  <a:pt x="94024" y="220068"/>
                  <a:pt x="93849" y="217333"/>
                </a:cubicBezTo>
                <a:cubicBezTo>
                  <a:pt x="93618" y="214736"/>
                  <a:pt x="93387" y="212139"/>
                  <a:pt x="93157" y="209542"/>
                </a:cubicBezTo>
                <a:cubicBezTo>
                  <a:pt x="92882" y="207135"/>
                  <a:pt x="92619" y="204675"/>
                  <a:pt x="92344" y="202268"/>
                </a:cubicBezTo>
                <a:cubicBezTo>
                  <a:pt x="92113" y="200496"/>
                  <a:pt x="91883" y="198708"/>
                  <a:pt x="91608" y="196936"/>
                </a:cubicBezTo>
                <a:cubicBezTo>
                  <a:pt x="91333" y="194838"/>
                  <a:pt x="90971" y="192705"/>
                  <a:pt x="90608" y="190556"/>
                </a:cubicBezTo>
                <a:cubicBezTo>
                  <a:pt x="90290" y="188595"/>
                  <a:pt x="89883" y="186652"/>
                  <a:pt x="89466" y="184725"/>
                </a:cubicBezTo>
                <a:cubicBezTo>
                  <a:pt x="89104" y="182954"/>
                  <a:pt x="88697" y="181131"/>
                  <a:pt x="88236" y="179394"/>
                </a:cubicBezTo>
                <a:cubicBezTo>
                  <a:pt x="87873" y="177760"/>
                  <a:pt x="87412" y="176161"/>
                  <a:pt x="86918" y="174579"/>
                </a:cubicBezTo>
                <a:cubicBezTo>
                  <a:pt x="86687" y="173839"/>
                  <a:pt x="86456" y="173117"/>
                  <a:pt x="86237" y="172394"/>
                </a:cubicBezTo>
                <a:cubicBezTo>
                  <a:pt x="86006" y="171706"/>
                  <a:pt x="85775" y="171019"/>
                  <a:pt x="85501" y="170348"/>
                </a:cubicBezTo>
                <a:cubicBezTo>
                  <a:pt x="85270" y="169660"/>
                  <a:pt x="85050" y="169024"/>
                  <a:pt x="84776" y="168387"/>
                </a:cubicBezTo>
                <a:cubicBezTo>
                  <a:pt x="84545" y="167785"/>
                  <a:pt x="84271" y="167201"/>
                  <a:pt x="84040" y="166599"/>
                </a:cubicBezTo>
                <a:cubicBezTo>
                  <a:pt x="83776" y="166065"/>
                  <a:pt x="83546" y="165515"/>
                  <a:pt x="83271" y="164965"/>
                </a:cubicBezTo>
                <a:cubicBezTo>
                  <a:pt x="83040" y="164518"/>
                  <a:pt x="82810" y="164053"/>
                  <a:pt x="82590" y="163606"/>
                </a:cubicBezTo>
                <a:cubicBezTo>
                  <a:pt x="82315" y="163142"/>
                  <a:pt x="82085" y="162695"/>
                  <a:pt x="81810" y="162230"/>
                </a:cubicBezTo>
                <a:cubicBezTo>
                  <a:pt x="81535" y="161817"/>
                  <a:pt x="81305" y="161422"/>
                  <a:pt x="81041" y="161009"/>
                </a:cubicBezTo>
                <a:cubicBezTo>
                  <a:pt x="80767" y="160596"/>
                  <a:pt x="80536" y="160235"/>
                  <a:pt x="80261" y="159857"/>
                </a:cubicBezTo>
                <a:cubicBezTo>
                  <a:pt x="79987" y="159547"/>
                  <a:pt x="79756" y="159221"/>
                  <a:pt x="79481" y="158911"/>
                </a:cubicBezTo>
                <a:cubicBezTo>
                  <a:pt x="79262" y="158636"/>
                  <a:pt x="78987" y="158361"/>
                  <a:pt x="78756" y="158085"/>
                </a:cubicBezTo>
                <a:cubicBezTo>
                  <a:pt x="78526" y="157862"/>
                  <a:pt x="78251" y="157638"/>
                  <a:pt x="78032" y="157398"/>
                </a:cubicBezTo>
                <a:cubicBezTo>
                  <a:pt x="77801" y="157174"/>
                  <a:pt x="77570" y="157002"/>
                  <a:pt x="77340" y="156813"/>
                </a:cubicBezTo>
                <a:cubicBezTo>
                  <a:pt x="72463" y="153029"/>
                  <a:pt x="73923" y="145290"/>
                  <a:pt x="79855" y="143553"/>
                </a:cubicBezTo>
                <a:cubicBezTo>
                  <a:pt x="82590" y="142745"/>
                  <a:pt x="85325" y="142057"/>
                  <a:pt x="88060" y="141420"/>
                </a:cubicBezTo>
                <a:cubicBezTo>
                  <a:pt x="90795" y="140836"/>
                  <a:pt x="93574" y="140320"/>
                  <a:pt x="96309" y="139924"/>
                </a:cubicBezTo>
                <a:cubicBezTo>
                  <a:pt x="99088" y="139511"/>
                  <a:pt x="101823" y="139236"/>
                  <a:pt x="104602" y="139013"/>
                </a:cubicBezTo>
                <a:cubicBezTo>
                  <a:pt x="107337" y="138824"/>
                  <a:pt x="110072" y="138738"/>
                  <a:pt x="112851" y="138738"/>
                </a:cubicBezTo>
                <a:moveTo>
                  <a:pt x="112829" y="0"/>
                </a:moveTo>
                <a:cubicBezTo>
                  <a:pt x="149714" y="0"/>
                  <a:pt x="184270" y="17989"/>
                  <a:pt x="205382" y="48206"/>
                </a:cubicBezTo>
                <a:cubicBezTo>
                  <a:pt x="226494" y="78441"/>
                  <a:pt x="231458" y="116999"/>
                  <a:pt x="218695" y="151602"/>
                </a:cubicBezTo>
                <a:cubicBezTo>
                  <a:pt x="205613" y="187064"/>
                  <a:pt x="166718" y="205776"/>
                  <a:pt x="160654" y="250698"/>
                </a:cubicBezTo>
                <a:cubicBezTo>
                  <a:pt x="162884" y="250113"/>
                  <a:pt x="165169" y="249562"/>
                  <a:pt x="167399" y="249012"/>
                </a:cubicBezTo>
                <a:cubicBezTo>
                  <a:pt x="171463" y="247980"/>
                  <a:pt x="175604" y="250474"/>
                  <a:pt x="176614" y="254533"/>
                </a:cubicBezTo>
                <a:cubicBezTo>
                  <a:pt x="177614" y="258574"/>
                  <a:pt x="175154" y="262719"/>
                  <a:pt x="171100" y="263734"/>
                </a:cubicBezTo>
                <a:cubicBezTo>
                  <a:pt x="133480" y="273107"/>
                  <a:pt x="95870" y="282480"/>
                  <a:pt x="58260" y="291904"/>
                </a:cubicBezTo>
                <a:cubicBezTo>
                  <a:pt x="54196" y="292902"/>
                  <a:pt x="50055" y="290443"/>
                  <a:pt x="49044" y="286349"/>
                </a:cubicBezTo>
                <a:cubicBezTo>
                  <a:pt x="48045" y="282291"/>
                  <a:pt x="50505" y="278197"/>
                  <a:pt x="54558" y="277148"/>
                </a:cubicBezTo>
                <a:cubicBezTo>
                  <a:pt x="85292" y="269512"/>
                  <a:pt x="116026" y="261808"/>
                  <a:pt x="146748" y="254172"/>
                </a:cubicBezTo>
                <a:cubicBezTo>
                  <a:pt x="145650" y="252486"/>
                  <a:pt x="145288" y="250938"/>
                  <a:pt x="145562" y="248978"/>
                </a:cubicBezTo>
                <a:cubicBezTo>
                  <a:pt x="145980" y="245796"/>
                  <a:pt x="146518" y="242700"/>
                  <a:pt x="147254" y="239605"/>
                </a:cubicBezTo>
                <a:cubicBezTo>
                  <a:pt x="147935" y="236595"/>
                  <a:pt x="148759" y="233671"/>
                  <a:pt x="149758" y="230817"/>
                </a:cubicBezTo>
                <a:cubicBezTo>
                  <a:pt x="150670" y="228030"/>
                  <a:pt x="151724" y="225296"/>
                  <a:pt x="152900" y="222613"/>
                </a:cubicBezTo>
                <a:cubicBezTo>
                  <a:pt x="153998" y="220016"/>
                  <a:pt x="155228" y="217471"/>
                  <a:pt x="156546" y="214960"/>
                </a:cubicBezTo>
                <a:cubicBezTo>
                  <a:pt x="157832" y="212604"/>
                  <a:pt x="159237" y="210230"/>
                  <a:pt x="160654" y="207909"/>
                </a:cubicBezTo>
                <a:cubicBezTo>
                  <a:pt x="162071" y="205673"/>
                  <a:pt x="163532" y="203489"/>
                  <a:pt x="165037" y="201304"/>
                </a:cubicBezTo>
                <a:cubicBezTo>
                  <a:pt x="166487" y="199223"/>
                  <a:pt x="168036" y="197160"/>
                  <a:pt x="169596" y="195165"/>
                </a:cubicBezTo>
                <a:cubicBezTo>
                  <a:pt x="171100" y="193170"/>
                  <a:pt x="172649" y="191244"/>
                  <a:pt x="174198" y="189335"/>
                </a:cubicBezTo>
                <a:cubicBezTo>
                  <a:pt x="175747" y="187477"/>
                  <a:pt x="177252" y="185603"/>
                  <a:pt x="178800" y="183780"/>
                </a:cubicBezTo>
                <a:cubicBezTo>
                  <a:pt x="180217" y="182094"/>
                  <a:pt x="181623" y="180409"/>
                  <a:pt x="183040" y="178775"/>
                </a:cubicBezTo>
                <a:cubicBezTo>
                  <a:pt x="183765" y="177915"/>
                  <a:pt x="184501" y="177038"/>
                  <a:pt x="185182" y="176178"/>
                </a:cubicBezTo>
                <a:cubicBezTo>
                  <a:pt x="186599" y="174493"/>
                  <a:pt x="188005" y="172807"/>
                  <a:pt x="189334" y="171087"/>
                </a:cubicBezTo>
                <a:cubicBezTo>
                  <a:pt x="190652" y="169436"/>
                  <a:pt x="191926" y="167802"/>
                  <a:pt x="193212" y="166117"/>
                </a:cubicBezTo>
                <a:cubicBezTo>
                  <a:pt x="194398" y="164535"/>
                  <a:pt x="195573" y="162884"/>
                  <a:pt x="196672" y="161198"/>
                </a:cubicBezTo>
                <a:cubicBezTo>
                  <a:pt x="197715" y="159616"/>
                  <a:pt x="198770" y="157965"/>
                  <a:pt x="199725" y="156280"/>
                </a:cubicBezTo>
                <a:cubicBezTo>
                  <a:pt x="200637" y="154697"/>
                  <a:pt x="201505" y="153046"/>
                  <a:pt x="202328" y="151378"/>
                </a:cubicBezTo>
                <a:cubicBezTo>
                  <a:pt x="203097" y="149727"/>
                  <a:pt x="203833" y="148042"/>
                  <a:pt x="204470" y="146356"/>
                </a:cubicBezTo>
                <a:cubicBezTo>
                  <a:pt x="215498" y="116449"/>
                  <a:pt x="211171" y="83033"/>
                  <a:pt x="192937" y="56909"/>
                </a:cubicBezTo>
                <a:cubicBezTo>
                  <a:pt x="174648" y="30733"/>
                  <a:pt x="144738" y="15152"/>
                  <a:pt x="112829" y="15152"/>
                </a:cubicBezTo>
                <a:cubicBezTo>
                  <a:pt x="80920" y="15152"/>
                  <a:pt x="51010" y="30733"/>
                  <a:pt x="32722" y="56909"/>
                </a:cubicBezTo>
                <a:cubicBezTo>
                  <a:pt x="14488" y="83033"/>
                  <a:pt x="10160" y="116449"/>
                  <a:pt x="21188" y="146356"/>
                </a:cubicBezTo>
                <a:cubicBezTo>
                  <a:pt x="21650" y="147543"/>
                  <a:pt x="22144" y="148730"/>
                  <a:pt x="22649" y="149916"/>
                </a:cubicBezTo>
                <a:cubicBezTo>
                  <a:pt x="23199" y="151103"/>
                  <a:pt x="23748" y="152273"/>
                  <a:pt x="24341" y="153425"/>
                </a:cubicBezTo>
                <a:cubicBezTo>
                  <a:pt x="24978" y="154594"/>
                  <a:pt x="25615" y="155747"/>
                  <a:pt x="26296" y="156882"/>
                </a:cubicBezTo>
                <a:cubicBezTo>
                  <a:pt x="26977" y="158068"/>
                  <a:pt x="27669" y="159203"/>
                  <a:pt x="28438" y="160338"/>
                </a:cubicBezTo>
                <a:cubicBezTo>
                  <a:pt x="29218" y="161525"/>
                  <a:pt x="29987" y="162712"/>
                  <a:pt x="30811" y="163847"/>
                </a:cubicBezTo>
                <a:cubicBezTo>
                  <a:pt x="31316" y="164569"/>
                  <a:pt x="31810" y="165257"/>
                  <a:pt x="32359" y="165979"/>
                </a:cubicBezTo>
                <a:cubicBezTo>
                  <a:pt x="33227" y="167166"/>
                  <a:pt x="34139" y="168353"/>
                  <a:pt x="35050" y="169488"/>
                </a:cubicBezTo>
                <a:cubicBezTo>
                  <a:pt x="35962" y="170726"/>
                  <a:pt x="36918" y="171896"/>
                  <a:pt x="37873" y="173048"/>
                </a:cubicBezTo>
                <a:cubicBezTo>
                  <a:pt x="38884" y="174269"/>
                  <a:pt x="39884" y="175456"/>
                  <a:pt x="40883" y="176677"/>
                </a:cubicBezTo>
                <a:cubicBezTo>
                  <a:pt x="42025" y="178053"/>
                  <a:pt x="43212" y="179411"/>
                  <a:pt x="44354" y="180821"/>
                </a:cubicBezTo>
                <a:cubicBezTo>
                  <a:pt x="45584" y="182232"/>
                  <a:pt x="46815" y="183694"/>
                  <a:pt x="48001" y="185155"/>
                </a:cubicBezTo>
                <a:cubicBezTo>
                  <a:pt x="49088" y="186462"/>
                  <a:pt x="50187" y="187752"/>
                  <a:pt x="51230" y="189059"/>
                </a:cubicBezTo>
                <a:cubicBezTo>
                  <a:pt x="52329" y="190435"/>
                  <a:pt x="53427" y="191742"/>
                  <a:pt x="54514" y="193118"/>
                </a:cubicBezTo>
                <a:cubicBezTo>
                  <a:pt x="55613" y="194528"/>
                  <a:pt x="56711" y="195939"/>
                  <a:pt x="57755" y="197349"/>
                </a:cubicBezTo>
                <a:cubicBezTo>
                  <a:pt x="58853" y="198811"/>
                  <a:pt x="59897" y="200307"/>
                  <a:pt x="60951" y="201803"/>
                </a:cubicBezTo>
                <a:cubicBezTo>
                  <a:pt x="62039" y="203317"/>
                  <a:pt x="63038" y="204864"/>
                  <a:pt x="64093" y="206447"/>
                </a:cubicBezTo>
                <a:cubicBezTo>
                  <a:pt x="64730" y="207461"/>
                  <a:pt x="65323" y="208407"/>
                  <a:pt x="65916" y="209456"/>
                </a:cubicBezTo>
                <a:cubicBezTo>
                  <a:pt x="66916" y="211090"/>
                  <a:pt x="67871" y="212776"/>
                  <a:pt x="68838" y="214461"/>
                </a:cubicBezTo>
                <a:cubicBezTo>
                  <a:pt x="69749" y="216198"/>
                  <a:pt x="70661" y="217969"/>
                  <a:pt x="71474" y="219741"/>
                </a:cubicBezTo>
                <a:cubicBezTo>
                  <a:pt x="72342" y="221615"/>
                  <a:pt x="73166" y="223473"/>
                  <a:pt x="73934" y="225347"/>
                </a:cubicBezTo>
                <a:cubicBezTo>
                  <a:pt x="74714" y="227308"/>
                  <a:pt x="75395" y="229269"/>
                  <a:pt x="76087" y="231212"/>
                </a:cubicBezTo>
                <a:cubicBezTo>
                  <a:pt x="76724" y="233276"/>
                  <a:pt x="77318" y="235322"/>
                  <a:pt x="77856" y="237369"/>
                </a:cubicBezTo>
                <a:cubicBezTo>
                  <a:pt x="78910" y="241411"/>
                  <a:pt x="76450" y="245555"/>
                  <a:pt x="72386" y="246604"/>
                </a:cubicBezTo>
                <a:cubicBezTo>
                  <a:pt x="68333" y="247653"/>
                  <a:pt x="64180" y="245194"/>
                  <a:pt x="63181" y="241153"/>
                </a:cubicBezTo>
                <a:cubicBezTo>
                  <a:pt x="53328" y="202955"/>
                  <a:pt x="19090" y="184416"/>
                  <a:pt x="6964" y="151602"/>
                </a:cubicBezTo>
                <a:cubicBezTo>
                  <a:pt x="-5800" y="116999"/>
                  <a:pt x="-835" y="78441"/>
                  <a:pt x="20277" y="48206"/>
                </a:cubicBezTo>
                <a:cubicBezTo>
                  <a:pt x="41388" y="17989"/>
                  <a:pt x="75945" y="0"/>
                  <a:pt x="112829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4" name="Text 1"/>
          <p:cNvSpPr/>
          <p:nvPr/>
        </p:nvSpPr>
        <p:spPr>
          <a:xfrm>
            <a:off x="6057626" y="1401958"/>
            <a:ext cx="225674" cy="37152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5" name="Shape 2"/>
          <p:cNvSpPr/>
          <p:nvPr/>
        </p:nvSpPr>
        <p:spPr>
          <a:xfrm>
            <a:off x="6058906" y="3062051"/>
            <a:ext cx="248534" cy="228783"/>
          </a:xfrm>
          <a:custGeom>
            <a:avLst/>
            <a:gdLst/>
            <a:ahLst/>
            <a:cxnLst/>
            <a:rect l="l" t="t" r="r" b="b"/>
            <a:pathLst>
              <a:path w="248534" h="228783">
                <a:moveTo>
                  <a:pt x="69762" y="225675"/>
                </a:moveTo>
                <a:cubicBezTo>
                  <a:pt x="73223" y="229567"/>
                  <a:pt x="79274" y="229995"/>
                  <a:pt x="83594" y="226114"/>
                </a:cubicBezTo>
                <a:lnTo>
                  <a:pt x="245358" y="79766"/>
                </a:lnTo>
                <a:cubicBezTo>
                  <a:pt x="249249" y="76312"/>
                  <a:pt x="249678" y="70271"/>
                  <a:pt x="246218" y="65951"/>
                </a:cubicBezTo>
                <a:lnTo>
                  <a:pt x="204270" y="20187"/>
                </a:lnTo>
                <a:cubicBezTo>
                  <a:pt x="200368" y="15878"/>
                  <a:pt x="194317" y="15878"/>
                  <a:pt x="190426" y="19332"/>
                </a:cubicBezTo>
                <a:lnTo>
                  <a:pt x="52458" y="143653"/>
                </a:lnTo>
                <a:cubicBezTo>
                  <a:pt x="48568" y="147545"/>
                  <a:pt x="48138" y="153587"/>
                  <a:pt x="52028" y="157468"/>
                </a:cubicBezTo>
                <a:lnTo>
                  <a:pt x="74512" y="182510"/>
                </a:lnTo>
                <a:cubicBezTo>
                  <a:pt x="77973" y="186391"/>
                  <a:pt x="84465" y="186830"/>
                  <a:pt x="88355" y="182938"/>
                </a:cubicBezTo>
                <a:lnTo>
                  <a:pt x="146307" y="130705"/>
                </a:lnTo>
                <a:cubicBezTo>
                  <a:pt x="150197" y="127251"/>
                  <a:pt x="150639" y="120772"/>
                  <a:pt x="147178" y="116890"/>
                </a:cubicBezTo>
                <a:lnTo>
                  <a:pt x="140256" y="109555"/>
                </a:lnTo>
                <a:lnTo>
                  <a:pt x="82305" y="162216"/>
                </a:lnTo>
                <a:lnTo>
                  <a:pt x="73223" y="151855"/>
                </a:lnTo>
                <a:lnTo>
                  <a:pt x="196477" y="40482"/>
                </a:lnTo>
                <a:lnTo>
                  <a:pt x="225023" y="71992"/>
                </a:lnTo>
                <a:lnTo>
                  <a:pt x="77543" y="205392"/>
                </a:lnTo>
                <a:lnTo>
                  <a:pt x="23912" y="145813"/>
                </a:lnTo>
                <a:lnTo>
                  <a:pt x="173564" y="10265"/>
                </a:lnTo>
                <a:lnTo>
                  <a:pt x="167072" y="3357"/>
                </a:lnTo>
                <a:cubicBezTo>
                  <a:pt x="163181" y="-962"/>
                  <a:pt x="157119" y="-962"/>
                  <a:pt x="153228" y="2491"/>
                </a:cubicBezTo>
                <a:lnTo>
                  <a:pt x="3147" y="138040"/>
                </a:lnTo>
                <a:cubicBezTo>
                  <a:pt x="-743" y="141494"/>
                  <a:pt x="-1173" y="147545"/>
                  <a:pt x="2718" y="151855"/>
                </a:cubicBezTo>
                <a:lnTo>
                  <a:pt x="69762" y="225675"/>
                </a:lnTo>
                <a:close/>
              </a:path>
            </a:pathLst>
          </a:custGeom>
          <a:solidFill>
            <a:srgbClr val="4674EB"/>
          </a:solidFill>
        </p:spPr>
      </p:sp>
      <p:sp>
        <p:nvSpPr>
          <p:cNvPr id="6" name="Text 3"/>
          <p:cNvSpPr/>
          <p:nvPr/>
        </p:nvSpPr>
        <p:spPr>
          <a:xfrm>
            <a:off x="6058906" y="3062051"/>
            <a:ext cx="248534" cy="22878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7" name="Text 4"/>
          <p:cNvSpPr/>
          <p:nvPr/>
        </p:nvSpPr>
        <p:spPr>
          <a:xfrm>
            <a:off x="6019038" y="1817004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运动鞋底设计成凹凸不平的纹路，通过增加接触面粗糙程度来增大有益作用，使行走或跑步时鞋底与地面间摩擦力显著提升，防止滑倒摔伤。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6390559" y="1426464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鞋底花纹增大摩檫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6019038" y="3394436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汽车轮胎的纵向沟槽设计能快速排水防滑，在湿滑路面通过增大接触面粗糙程度提升抓地力，这种通过形变增加接触面相互作用的方式有效增强了有益摩擦效应。</a:t>
            </a:r>
            <a:endParaRPr lang="en-US" sz="1460" dirty="0"/>
          </a:p>
        </p:txBody>
      </p:sp>
      <p:sp>
        <p:nvSpPr>
          <p:cNvPr id="10" name="Text 7"/>
          <p:cNvSpPr/>
          <p:nvPr/>
        </p:nvSpPr>
        <p:spPr>
          <a:xfrm>
            <a:off x="6390559" y="3038917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轮胎花纹的作用</a:t>
            </a:r>
            <a:endParaRPr lang="en-US" sz="1460" dirty="0"/>
          </a:p>
        </p:txBody>
      </p:sp>
      <p:sp>
        <p:nvSpPr>
          <p:cNvPr id="11" name="Text 8"/>
          <p:cNvSpPr/>
          <p:nvPr/>
        </p:nvSpPr>
        <p:spPr>
          <a:xfrm>
            <a:off x="847283" y="99578"/>
            <a:ext cx="7588057" cy="462772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增大有益摩檫</a:t>
            </a:r>
            <a:endParaRPr lang="en-US" sz="146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85" y="953953"/>
            <a:ext cx="3534886" cy="3235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89" y="1111087"/>
            <a:ext cx="5137831" cy="415766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345"/>
              </a:lnSpc>
              <a:spcBef>
                <a:spcPts val="365"/>
              </a:spcBef>
              <a:buNone/>
            </a:pPr>
            <a:r>
              <a:rPr lang="en-US" sz="16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加润滑油减小摩檫</a:t>
            </a:r>
            <a:endParaRPr lang="en-US" sz="1460" dirty="0"/>
          </a:p>
        </p:txBody>
      </p:sp>
      <p:sp>
        <p:nvSpPr>
          <p:cNvPr id="4" name="Text 1"/>
          <p:cNvSpPr/>
          <p:nvPr/>
        </p:nvSpPr>
        <p:spPr>
          <a:xfrm>
            <a:off x="622889" y="1620225"/>
            <a:ext cx="5137831" cy="36861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汽车发动机内添加专用润滑油，可形成油膜减少金属部件直接接触，降低运动时产生的阻力。这种措施既控制了阻碍运动的力，又避免零件过度磨损。</a:t>
            </a:r>
            <a:endParaRPr lang="en-US" sz="1460" dirty="0"/>
          </a:p>
        </p:txBody>
      </p:sp>
      <p:sp>
        <p:nvSpPr>
          <p:cNvPr id="5" name="Text 2"/>
          <p:cNvSpPr/>
          <p:nvPr/>
        </p:nvSpPr>
        <p:spPr>
          <a:xfrm>
            <a:off x="567202" y="3011851"/>
            <a:ext cx="4980645" cy="415766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345"/>
              </a:lnSpc>
              <a:spcBef>
                <a:spcPts val="365"/>
              </a:spcBef>
              <a:buNone/>
            </a:pPr>
            <a:r>
              <a:rPr lang="en-US" sz="16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用滚动代替滑动</a:t>
            </a:r>
            <a:endParaRPr lang="en-US" sz="1460" dirty="0"/>
          </a:p>
        </p:txBody>
      </p:sp>
      <p:sp>
        <p:nvSpPr>
          <p:cNvPr id="6" name="Text 3"/>
          <p:cNvSpPr/>
          <p:nvPr/>
        </p:nvSpPr>
        <p:spPr>
          <a:xfrm>
            <a:off x="567202" y="3534430"/>
            <a:ext cx="5194981" cy="36861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轴承内安装滚珠，将部件间的直接滑动接触转为滚动，显著降低接触面摩擦，减少能量损耗与磨损，这正是通过转变接触方式来减小有害摩擦的实践。</a:t>
            </a:r>
            <a:endParaRPr lang="en-US" sz="1460" dirty="0"/>
          </a:p>
        </p:txBody>
      </p:sp>
      <p:sp>
        <p:nvSpPr>
          <p:cNvPr id="7" name="Shape 4"/>
          <p:cNvSpPr/>
          <p:nvPr/>
        </p:nvSpPr>
        <p:spPr>
          <a:xfrm>
            <a:off x="663306" y="4466295"/>
            <a:ext cx="526146" cy="92263"/>
          </a:xfrm>
          <a:custGeom>
            <a:avLst/>
            <a:gdLst/>
            <a:ahLst/>
            <a:cxnLst/>
            <a:rect l="l" t="t" r="r" b="b"/>
            <a:pathLst>
              <a:path w="526146" h="92263">
                <a:moveTo>
                  <a:pt x="0" y="0"/>
                </a:moveTo>
                <a:lnTo>
                  <a:pt x="526146" y="0"/>
                </a:lnTo>
                <a:lnTo>
                  <a:pt x="526146" y="92263"/>
                </a:lnTo>
                <a:lnTo>
                  <a:pt x="0" y="92263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8" name="Text 5"/>
          <p:cNvSpPr/>
          <p:nvPr/>
        </p:nvSpPr>
        <p:spPr>
          <a:xfrm>
            <a:off x="663306" y="4466295"/>
            <a:ext cx="526146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9" name="Shape 6"/>
          <p:cNvSpPr/>
          <p:nvPr/>
        </p:nvSpPr>
        <p:spPr>
          <a:xfrm>
            <a:off x="623621" y="4466295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0" name="Text 7"/>
          <p:cNvSpPr/>
          <p:nvPr/>
        </p:nvSpPr>
        <p:spPr>
          <a:xfrm>
            <a:off x="623621" y="4466295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1" name="Shape 8"/>
          <p:cNvSpPr/>
          <p:nvPr/>
        </p:nvSpPr>
        <p:spPr>
          <a:xfrm>
            <a:off x="1135685" y="4466295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2" name="Text 9"/>
          <p:cNvSpPr/>
          <p:nvPr/>
        </p:nvSpPr>
        <p:spPr>
          <a:xfrm>
            <a:off x="1135685" y="4466295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3" name="Shape 10"/>
          <p:cNvSpPr/>
          <p:nvPr/>
        </p:nvSpPr>
        <p:spPr>
          <a:xfrm>
            <a:off x="1189360" y="4535655"/>
            <a:ext cx="4340081" cy="0"/>
          </a:xfrm>
          <a:custGeom>
            <a:avLst/>
            <a:gdLst/>
            <a:ahLst/>
            <a:cxnLst/>
            <a:rect l="l" t="t" r="r" b="b"/>
            <a:pathLst>
              <a:path w="4340081">
                <a:moveTo>
                  <a:pt x="0" y="0"/>
                </a:moveTo>
                <a:lnTo>
                  <a:pt x="4340081" y="0"/>
                </a:lnTo>
              </a:path>
            </a:pathLst>
          </a:custGeom>
          <a:noFill/>
          <a:ln w="10430">
            <a:solidFill>
              <a:srgbClr val="4674EB"/>
            </a:solidFill>
            <a:prstDash val="dash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39531" y="2722077"/>
            <a:ext cx="526146" cy="92263"/>
          </a:xfrm>
          <a:custGeom>
            <a:avLst/>
            <a:gdLst/>
            <a:ahLst/>
            <a:cxnLst/>
            <a:rect l="l" t="t" r="r" b="b"/>
            <a:pathLst>
              <a:path w="526146" h="92263">
                <a:moveTo>
                  <a:pt x="0" y="0"/>
                </a:moveTo>
                <a:lnTo>
                  <a:pt x="526146" y="0"/>
                </a:lnTo>
                <a:lnTo>
                  <a:pt x="526146" y="92263"/>
                </a:lnTo>
                <a:lnTo>
                  <a:pt x="0" y="92263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15" name="Text 12"/>
          <p:cNvSpPr/>
          <p:nvPr/>
        </p:nvSpPr>
        <p:spPr>
          <a:xfrm>
            <a:off x="639531" y="2722077"/>
            <a:ext cx="526146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6" name="Shape 13"/>
          <p:cNvSpPr/>
          <p:nvPr/>
        </p:nvSpPr>
        <p:spPr>
          <a:xfrm>
            <a:off x="599846" y="2722077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7" name="Text 14"/>
          <p:cNvSpPr/>
          <p:nvPr/>
        </p:nvSpPr>
        <p:spPr>
          <a:xfrm>
            <a:off x="599846" y="2722077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8" name="Shape 15"/>
          <p:cNvSpPr/>
          <p:nvPr/>
        </p:nvSpPr>
        <p:spPr>
          <a:xfrm>
            <a:off x="1111910" y="2722077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9" name="Text 16"/>
          <p:cNvSpPr/>
          <p:nvPr/>
        </p:nvSpPr>
        <p:spPr>
          <a:xfrm>
            <a:off x="1111910" y="2722077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20" name="Shape 17"/>
          <p:cNvSpPr/>
          <p:nvPr/>
        </p:nvSpPr>
        <p:spPr>
          <a:xfrm>
            <a:off x="1165586" y="2807135"/>
            <a:ext cx="4405944" cy="0"/>
          </a:xfrm>
          <a:custGeom>
            <a:avLst/>
            <a:gdLst/>
            <a:ahLst/>
            <a:cxnLst/>
            <a:rect l="l" t="t" r="r" b="b"/>
            <a:pathLst>
              <a:path w="4405944">
                <a:moveTo>
                  <a:pt x="0" y="0"/>
                </a:moveTo>
                <a:lnTo>
                  <a:pt x="4405944" y="0"/>
                </a:lnTo>
              </a:path>
            </a:pathLst>
          </a:custGeom>
          <a:noFill/>
          <a:ln w="10430">
            <a:solidFill>
              <a:srgbClr val="4674EB"/>
            </a:solidFill>
            <a:prstDash val="dash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916777" y="110002"/>
            <a:ext cx="7588057" cy="4810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减小有害摩檫</a:t>
            </a:r>
            <a:endParaRPr lang="en-US" sz="146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52434" y="974476"/>
            <a:ext cx="2759842" cy="36798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4637" y="1061527"/>
            <a:ext cx="3632637" cy="3632454"/>
          </a:xfrm>
          <a:prstGeom prst="ellipse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46285" y="1554389"/>
            <a:ext cx="4290090" cy="368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人行走时脚向后蹬地，地面施加向前的反作用力即静摩擦力，推动身体前进。这种力广泛存在于鞋底与路面、车轮与轨道间，是日常移动和机械运转的基础。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4746285" y="1064544"/>
            <a:ext cx="4292742" cy="37861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走路靠摩檫力前进</a:t>
            </a:r>
            <a:endParaRPr lang="en-US" sz="1460" dirty="0"/>
          </a:p>
        </p:txBody>
      </p:sp>
      <p:sp>
        <p:nvSpPr>
          <p:cNvPr id="6" name="Text 2"/>
          <p:cNvSpPr/>
          <p:nvPr/>
        </p:nvSpPr>
        <p:spPr>
          <a:xfrm>
            <a:off x="4746285" y="3424519"/>
            <a:ext cx="4290090" cy="368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汽车刹车时，刹车片与刹车盘紧密接触，通过相互挤压产生阻碍相对运动的力，使车轮减速，这正是摩擦力在交通出行中的典型应用，保障了行车安全。</a:t>
            </a:r>
            <a:endParaRPr lang="en-US" sz="1460" dirty="0"/>
          </a:p>
        </p:txBody>
      </p:sp>
      <p:sp>
        <p:nvSpPr>
          <p:cNvPr id="7" name="Text 3"/>
          <p:cNvSpPr/>
          <p:nvPr/>
        </p:nvSpPr>
        <p:spPr>
          <a:xfrm>
            <a:off x="4746285" y="2952963"/>
            <a:ext cx="4290090" cy="37861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刹车时摩檫力作用</a:t>
            </a:r>
            <a:endParaRPr lang="en-US" sz="1460" dirty="0"/>
          </a:p>
        </p:txBody>
      </p:sp>
      <p:sp>
        <p:nvSpPr>
          <p:cNvPr id="8" name="Text 4"/>
          <p:cNvSpPr/>
          <p:nvPr/>
        </p:nvSpPr>
        <p:spPr>
          <a:xfrm>
            <a:off x="916777" y="110002"/>
            <a:ext cx="7588057" cy="4810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摩檫力在生活</a:t>
            </a:r>
            <a:endParaRPr lang="en-US" sz="14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63361" y="2206813"/>
            <a:ext cx="4475622" cy="546783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980"/>
              </a:lnSpc>
              <a:spcBef>
                <a:spcPts val="365"/>
              </a:spcBef>
              <a:buNone/>
            </a:pPr>
            <a:r>
              <a:rPr lang="en-US" sz="284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摩檫力的实验探究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1524945" y="1743304"/>
            <a:ext cx="1973092" cy="97597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8675"/>
              </a:lnSpc>
              <a:spcBef>
                <a:spcPts val="365"/>
              </a:spcBef>
              <a:buNone/>
            </a:pPr>
            <a:r>
              <a:rPr lang="en-US" sz="62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60" dirty="0"/>
          </a:p>
        </p:txBody>
      </p:sp>
      <p:sp>
        <p:nvSpPr>
          <p:cNvPr id="6" name="Shape 2"/>
          <p:cNvSpPr/>
          <p:nvPr/>
        </p:nvSpPr>
        <p:spPr>
          <a:xfrm>
            <a:off x="3520440" y="2386943"/>
            <a:ext cx="0" cy="485181"/>
          </a:xfrm>
          <a:custGeom>
            <a:avLst/>
            <a:gdLst/>
            <a:ahLst/>
            <a:cxnLst/>
            <a:rect l="l" t="t" r="r" b="b"/>
            <a:pathLst>
              <a:path h="485181">
                <a:moveTo>
                  <a:pt x="0" y="0"/>
                </a:moveTo>
                <a:lnTo>
                  <a:pt x="0" y="485181"/>
                </a:lnTo>
              </a:path>
            </a:pathLst>
          </a:custGeom>
          <a:noFill/>
          <a:ln w="27813">
            <a:solidFill>
              <a:srgbClr val="90ACF3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57626" y="1401958"/>
            <a:ext cx="225674" cy="371521"/>
          </a:xfrm>
          <a:custGeom>
            <a:avLst/>
            <a:gdLst/>
            <a:ahLst/>
            <a:cxnLst/>
            <a:rect l="l" t="t" r="r" b="b"/>
            <a:pathLst>
              <a:path w="225674" h="371521">
                <a:moveTo>
                  <a:pt x="85105" y="348383"/>
                </a:moveTo>
                <a:cubicBezTo>
                  <a:pt x="88159" y="345511"/>
                  <a:pt x="92992" y="345752"/>
                  <a:pt x="95826" y="348847"/>
                </a:cubicBezTo>
                <a:cubicBezTo>
                  <a:pt x="104943" y="358822"/>
                  <a:pt x="120716" y="358822"/>
                  <a:pt x="129833" y="348847"/>
                </a:cubicBezTo>
                <a:cubicBezTo>
                  <a:pt x="132667" y="345752"/>
                  <a:pt x="137489" y="345511"/>
                  <a:pt x="140553" y="348383"/>
                </a:cubicBezTo>
                <a:cubicBezTo>
                  <a:pt x="143651" y="351221"/>
                  <a:pt x="143882" y="356002"/>
                  <a:pt x="141048" y="359098"/>
                </a:cubicBezTo>
                <a:cubicBezTo>
                  <a:pt x="133798" y="366974"/>
                  <a:pt x="123539" y="371480"/>
                  <a:pt x="112829" y="371480"/>
                </a:cubicBezTo>
                <a:cubicBezTo>
                  <a:pt x="102120" y="371480"/>
                  <a:pt x="91861" y="366974"/>
                  <a:pt x="84611" y="359098"/>
                </a:cubicBezTo>
                <a:cubicBezTo>
                  <a:pt x="81777" y="356002"/>
                  <a:pt x="82008" y="351221"/>
                  <a:pt x="85105" y="348383"/>
                </a:cubicBezTo>
                <a:moveTo>
                  <a:pt x="167388" y="304218"/>
                </a:moveTo>
                <a:cubicBezTo>
                  <a:pt x="171441" y="303221"/>
                  <a:pt x="175593" y="305680"/>
                  <a:pt x="176592" y="309773"/>
                </a:cubicBezTo>
                <a:cubicBezTo>
                  <a:pt x="177603" y="313815"/>
                  <a:pt x="175143" y="317925"/>
                  <a:pt x="171078" y="318923"/>
                </a:cubicBezTo>
                <a:cubicBezTo>
                  <a:pt x="133480" y="328347"/>
                  <a:pt x="95870" y="337720"/>
                  <a:pt x="58271" y="347110"/>
                </a:cubicBezTo>
                <a:cubicBezTo>
                  <a:pt x="54218" y="348108"/>
                  <a:pt x="50066" y="345649"/>
                  <a:pt x="49066" y="341590"/>
                </a:cubicBezTo>
                <a:cubicBezTo>
                  <a:pt x="48056" y="337548"/>
                  <a:pt x="50516" y="333404"/>
                  <a:pt x="54580" y="332406"/>
                </a:cubicBezTo>
                <a:cubicBezTo>
                  <a:pt x="92179" y="323016"/>
                  <a:pt x="129789" y="313643"/>
                  <a:pt x="167388" y="304218"/>
                </a:cubicBezTo>
                <a:moveTo>
                  <a:pt x="167388" y="276667"/>
                </a:moveTo>
                <a:cubicBezTo>
                  <a:pt x="171441" y="275618"/>
                  <a:pt x="175593" y="278077"/>
                  <a:pt x="176592" y="282170"/>
                </a:cubicBezTo>
                <a:cubicBezTo>
                  <a:pt x="177603" y="286212"/>
                  <a:pt x="175143" y="290305"/>
                  <a:pt x="171078" y="291354"/>
                </a:cubicBezTo>
                <a:cubicBezTo>
                  <a:pt x="133480" y="300727"/>
                  <a:pt x="95870" y="310083"/>
                  <a:pt x="58271" y="319456"/>
                </a:cubicBezTo>
                <a:cubicBezTo>
                  <a:pt x="54218" y="320505"/>
                  <a:pt x="50066" y="318011"/>
                  <a:pt x="49066" y="313952"/>
                </a:cubicBezTo>
                <a:cubicBezTo>
                  <a:pt x="48056" y="309911"/>
                  <a:pt x="50516" y="305818"/>
                  <a:pt x="54580" y="304769"/>
                </a:cubicBezTo>
                <a:cubicBezTo>
                  <a:pt x="92179" y="295396"/>
                  <a:pt x="129789" y="286023"/>
                  <a:pt x="167388" y="276667"/>
                </a:cubicBezTo>
                <a:moveTo>
                  <a:pt x="112851" y="138738"/>
                </a:moveTo>
                <a:cubicBezTo>
                  <a:pt x="115630" y="138738"/>
                  <a:pt x="118365" y="138824"/>
                  <a:pt x="121100" y="139013"/>
                </a:cubicBezTo>
                <a:cubicBezTo>
                  <a:pt x="123879" y="139236"/>
                  <a:pt x="126658" y="139511"/>
                  <a:pt x="129394" y="139924"/>
                </a:cubicBezTo>
                <a:cubicBezTo>
                  <a:pt x="132129" y="140320"/>
                  <a:pt x="134908" y="140836"/>
                  <a:pt x="137643" y="141420"/>
                </a:cubicBezTo>
                <a:cubicBezTo>
                  <a:pt x="140378" y="142057"/>
                  <a:pt x="143113" y="142745"/>
                  <a:pt x="145848" y="143553"/>
                </a:cubicBezTo>
                <a:cubicBezTo>
                  <a:pt x="151779" y="145290"/>
                  <a:pt x="153229" y="153029"/>
                  <a:pt x="148352" y="156813"/>
                </a:cubicBezTo>
                <a:cubicBezTo>
                  <a:pt x="148133" y="157002"/>
                  <a:pt x="147902" y="157174"/>
                  <a:pt x="147671" y="157398"/>
                </a:cubicBezTo>
                <a:cubicBezTo>
                  <a:pt x="147440" y="157638"/>
                  <a:pt x="147177" y="157862"/>
                  <a:pt x="146946" y="158085"/>
                </a:cubicBezTo>
                <a:cubicBezTo>
                  <a:pt x="146716" y="158361"/>
                  <a:pt x="146441" y="158636"/>
                  <a:pt x="146210" y="158911"/>
                </a:cubicBezTo>
                <a:cubicBezTo>
                  <a:pt x="145947" y="159221"/>
                  <a:pt x="145716" y="159547"/>
                  <a:pt x="145441" y="159857"/>
                </a:cubicBezTo>
                <a:cubicBezTo>
                  <a:pt x="145167" y="160235"/>
                  <a:pt x="144936" y="160596"/>
                  <a:pt x="144662" y="161009"/>
                </a:cubicBezTo>
                <a:cubicBezTo>
                  <a:pt x="144387" y="161422"/>
                  <a:pt x="144167" y="161817"/>
                  <a:pt x="143893" y="162230"/>
                </a:cubicBezTo>
                <a:cubicBezTo>
                  <a:pt x="143618" y="162695"/>
                  <a:pt x="143387" y="163142"/>
                  <a:pt x="143113" y="163606"/>
                </a:cubicBezTo>
                <a:cubicBezTo>
                  <a:pt x="142893" y="164053"/>
                  <a:pt x="142662" y="164518"/>
                  <a:pt x="142432" y="164965"/>
                </a:cubicBezTo>
                <a:cubicBezTo>
                  <a:pt x="142157" y="165515"/>
                  <a:pt x="141926" y="166065"/>
                  <a:pt x="141663" y="166599"/>
                </a:cubicBezTo>
                <a:cubicBezTo>
                  <a:pt x="141432" y="167201"/>
                  <a:pt x="141158" y="167785"/>
                  <a:pt x="140927" y="168387"/>
                </a:cubicBezTo>
                <a:cubicBezTo>
                  <a:pt x="140652" y="169024"/>
                  <a:pt x="140422" y="169660"/>
                  <a:pt x="140202" y="170348"/>
                </a:cubicBezTo>
                <a:cubicBezTo>
                  <a:pt x="139927" y="171019"/>
                  <a:pt x="139697" y="171706"/>
                  <a:pt x="139466" y="172394"/>
                </a:cubicBezTo>
                <a:cubicBezTo>
                  <a:pt x="139246" y="173117"/>
                  <a:pt x="139016" y="173839"/>
                  <a:pt x="138785" y="174579"/>
                </a:cubicBezTo>
                <a:cubicBezTo>
                  <a:pt x="138554" y="175352"/>
                  <a:pt x="138335" y="176126"/>
                  <a:pt x="138104" y="176900"/>
                </a:cubicBezTo>
                <a:cubicBezTo>
                  <a:pt x="137873" y="177726"/>
                  <a:pt x="137643" y="178586"/>
                  <a:pt x="137467" y="179394"/>
                </a:cubicBezTo>
                <a:cubicBezTo>
                  <a:pt x="137236" y="180271"/>
                  <a:pt x="137006" y="181131"/>
                  <a:pt x="136830" y="181991"/>
                </a:cubicBezTo>
                <a:cubicBezTo>
                  <a:pt x="136599" y="182902"/>
                  <a:pt x="136412" y="183814"/>
                  <a:pt x="136237" y="184725"/>
                </a:cubicBezTo>
                <a:cubicBezTo>
                  <a:pt x="135819" y="186686"/>
                  <a:pt x="135413" y="188595"/>
                  <a:pt x="135094" y="190556"/>
                </a:cubicBezTo>
                <a:cubicBezTo>
                  <a:pt x="134732" y="192705"/>
                  <a:pt x="134369" y="194838"/>
                  <a:pt x="134095" y="196936"/>
                </a:cubicBezTo>
                <a:cubicBezTo>
                  <a:pt x="133820" y="198708"/>
                  <a:pt x="133589" y="200496"/>
                  <a:pt x="133359" y="202268"/>
                </a:cubicBezTo>
                <a:cubicBezTo>
                  <a:pt x="133084" y="204675"/>
                  <a:pt x="132810" y="207135"/>
                  <a:pt x="132590" y="209542"/>
                </a:cubicBezTo>
                <a:cubicBezTo>
                  <a:pt x="132315" y="212139"/>
                  <a:pt x="132085" y="214736"/>
                  <a:pt x="131854" y="217333"/>
                </a:cubicBezTo>
                <a:cubicBezTo>
                  <a:pt x="131678" y="220068"/>
                  <a:pt x="131491" y="222854"/>
                  <a:pt x="131316" y="225623"/>
                </a:cubicBezTo>
                <a:cubicBezTo>
                  <a:pt x="131085" y="229819"/>
                  <a:pt x="127482" y="233001"/>
                  <a:pt x="123286" y="232725"/>
                </a:cubicBezTo>
                <a:cubicBezTo>
                  <a:pt x="119090" y="232502"/>
                  <a:pt x="115905" y="228908"/>
                  <a:pt x="116180" y="224711"/>
                </a:cubicBezTo>
                <a:cubicBezTo>
                  <a:pt x="116410" y="220945"/>
                  <a:pt x="116630" y="217161"/>
                  <a:pt x="116948" y="213429"/>
                </a:cubicBezTo>
                <a:cubicBezTo>
                  <a:pt x="117135" y="211606"/>
                  <a:pt x="117267" y="209818"/>
                  <a:pt x="117454" y="208046"/>
                </a:cubicBezTo>
                <a:cubicBezTo>
                  <a:pt x="117640" y="206309"/>
                  <a:pt x="117816" y="204641"/>
                  <a:pt x="118003" y="202904"/>
                </a:cubicBezTo>
                <a:cubicBezTo>
                  <a:pt x="118179" y="201270"/>
                  <a:pt x="118409" y="199619"/>
                  <a:pt x="118596" y="197985"/>
                </a:cubicBezTo>
                <a:cubicBezTo>
                  <a:pt x="118728" y="196885"/>
                  <a:pt x="118915" y="195835"/>
                  <a:pt x="119046" y="194804"/>
                </a:cubicBezTo>
                <a:cubicBezTo>
                  <a:pt x="119277" y="193239"/>
                  <a:pt x="119508" y="191742"/>
                  <a:pt x="119782" y="190194"/>
                </a:cubicBezTo>
                <a:cubicBezTo>
                  <a:pt x="120002" y="188733"/>
                  <a:pt x="120233" y="187288"/>
                  <a:pt x="120507" y="185775"/>
                </a:cubicBezTo>
                <a:cubicBezTo>
                  <a:pt x="120782" y="184416"/>
                  <a:pt x="121057" y="183006"/>
                  <a:pt x="121375" y="181595"/>
                </a:cubicBezTo>
                <a:cubicBezTo>
                  <a:pt x="121650" y="180271"/>
                  <a:pt x="121924" y="178947"/>
                  <a:pt x="122243" y="177588"/>
                </a:cubicBezTo>
                <a:cubicBezTo>
                  <a:pt x="122561" y="176298"/>
                  <a:pt x="122880" y="175077"/>
                  <a:pt x="123198" y="173805"/>
                </a:cubicBezTo>
                <a:cubicBezTo>
                  <a:pt x="123517" y="172566"/>
                  <a:pt x="123879" y="171380"/>
                  <a:pt x="124242" y="170210"/>
                </a:cubicBezTo>
                <a:cubicBezTo>
                  <a:pt x="124615" y="169024"/>
                  <a:pt x="124978" y="167888"/>
                  <a:pt x="125340" y="166736"/>
                </a:cubicBezTo>
                <a:cubicBezTo>
                  <a:pt x="125703" y="165687"/>
                  <a:pt x="126120" y="164604"/>
                  <a:pt x="126527" y="163503"/>
                </a:cubicBezTo>
                <a:cubicBezTo>
                  <a:pt x="126933" y="162505"/>
                  <a:pt x="127350" y="161508"/>
                  <a:pt x="127801" y="160510"/>
                </a:cubicBezTo>
                <a:cubicBezTo>
                  <a:pt x="128207" y="159496"/>
                  <a:pt x="128669" y="158550"/>
                  <a:pt x="129119" y="157638"/>
                </a:cubicBezTo>
                <a:cubicBezTo>
                  <a:pt x="129350" y="157174"/>
                  <a:pt x="129580" y="156761"/>
                  <a:pt x="129811" y="156366"/>
                </a:cubicBezTo>
                <a:cubicBezTo>
                  <a:pt x="129943" y="156090"/>
                  <a:pt x="130129" y="155764"/>
                  <a:pt x="130305" y="155454"/>
                </a:cubicBezTo>
                <a:cubicBezTo>
                  <a:pt x="129262" y="155265"/>
                  <a:pt x="128207" y="155076"/>
                  <a:pt x="127164" y="154938"/>
                </a:cubicBezTo>
                <a:cubicBezTo>
                  <a:pt x="124791" y="154577"/>
                  <a:pt x="122419" y="154302"/>
                  <a:pt x="120002" y="154130"/>
                </a:cubicBezTo>
                <a:cubicBezTo>
                  <a:pt x="117640" y="153992"/>
                  <a:pt x="115224" y="153906"/>
                  <a:pt x="112851" y="153906"/>
                </a:cubicBezTo>
                <a:cubicBezTo>
                  <a:pt x="110479" y="153906"/>
                  <a:pt x="108062" y="153941"/>
                  <a:pt x="105690" y="154130"/>
                </a:cubicBezTo>
                <a:cubicBezTo>
                  <a:pt x="103284" y="154302"/>
                  <a:pt x="100912" y="154577"/>
                  <a:pt x="98539" y="154938"/>
                </a:cubicBezTo>
                <a:cubicBezTo>
                  <a:pt x="97495" y="155076"/>
                  <a:pt x="96441" y="155265"/>
                  <a:pt x="95398" y="155454"/>
                </a:cubicBezTo>
                <a:cubicBezTo>
                  <a:pt x="95573" y="155764"/>
                  <a:pt x="95760" y="156090"/>
                  <a:pt x="95936" y="156366"/>
                </a:cubicBezTo>
                <a:cubicBezTo>
                  <a:pt x="96122" y="156761"/>
                  <a:pt x="96353" y="157174"/>
                  <a:pt x="96584" y="157638"/>
                </a:cubicBezTo>
                <a:cubicBezTo>
                  <a:pt x="97034" y="158550"/>
                  <a:pt x="97495" y="159496"/>
                  <a:pt x="97902" y="160510"/>
                </a:cubicBezTo>
                <a:cubicBezTo>
                  <a:pt x="98352" y="161508"/>
                  <a:pt x="98770" y="162505"/>
                  <a:pt x="99176" y="163503"/>
                </a:cubicBezTo>
                <a:cubicBezTo>
                  <a:pt x="99582" y="164604"/>
                  <a:pt x="100000" y="165687"/>
                  <a:pt x="100362" y="166736"/>
                </a:cubicBezTo>
                <a:cubicBezTo>
                  <a:pt x="100725" y="167888"/>
                  <a:pt x="101087" y="169024"/>
                  <a:pt x="101461" y="170210"/>
                </a:cubicBezTo>
                <a:cubicBezTo>
                  <a:pt x="101823" y="171380"/>
                  <a:pt x="102186" y="172566"/>
                  <a:pt x="102504" y="173805"/>
                </a:cubicBezTo>
                <a:cubicBezTo>
                  <a:pt x="102823" y="175077"/>
                  <a:pt x="103141" y="176298"/>
                  <a:pt x="103460" y="177588"/>
                </a:cubicBezTo>
                <a:cubicBezTo>
                  <a:pt x="103778" y="178947"/>
                  <a:pt x="104053" y="180271"/>
                  <a:pt x="104328" y="181595"/>
                </a:cubicBezTo>
                <a:cubicBezTo>
                  <a:pt x="104646" y="183006"/>
                  <a:pt x="104921" y="184416"/>
                  <a:pt x="105195" y="185775"/>
                </a:cubicBezTo>
                <a:cubicBezTo>
                  <a:pt x="105470" y="187288"/>
                  <a:pt x="105690" y="188733"/>
                  <a:pt x="105964" y="190194"/>
                </a:cubicBezTo>
                <a:cubicBezTo>
                  <a:pt x="106195" y="191742"/>
                  <a:pt x="106426" y="193239"/>
                  <a:pt x="106656" y="194804"/>
                </a:cubicBezTo>
                <a:cubicBezTo>
                  <a:pt x="107063" y="197486"/>
                  <a:pt x="107381" y="200221"/>
                  <a:pt x="107700" y="202904"/>
                </a:cubicBezTo>
                <a:cubicBezTo>
                  <a:pt x="108106" y="206412"/>
                  <a:pt x="108425" y="209921"/>
                  <a:pt x="108754" y="213429"/>
                </a:cubicBezTo>
                <a:cubicBezTo>
                  <a:pt x="109073" y="217161"/>
                  <a:pt x="109336" y="220945"/>
                  <a:pt x="109523" y="224711"/>
                </a:cubicBezTo>
                <a:cubicBezTo>
                  <a:pt x="109798" y="228908"/>
                  <a:pt x="106601" y="232502"/>
                  <a:pt x="102416" y="232725"/>
                </a:cubicBezTo>
                <a:cubicBezTo>
                  <a:pt x="98220" y="233001"/>
                  <a:pt x="94618" y="229819"/>
                  <a:pt x="94387" y="225623"/>
                </a:cubicBezTo>
                <a:cubicBezTo>
                  <a:pt x="94211" y="222854"/>
                  <a:pt x="94024" y="220068"/>
                  <a:pt x="93849" y="217333"/>
                </a:cubicBezTo>
                <a:cubicBezTo>
                  <a:pt x="93618" y="214736"/>
                  <a:pt x="93387" y="212139"/>
                  <a:pt x="93157" y="209542"/>
                </a:cubicBezTo>
                <a:cubicBezTo>
                  <a:pt x="92882" y="207135"/>
                  <a:pt x="92619" y="204675"/>
                  <a:pt x="92344" y="202268"/>
                </a:cubicBezTo>
                <a:cubicBezTo>
                  <a:pt x="92113" y="200496"/>
                  <a:pt x="91883" y="198708"/>
                  <a:pt x="91608" y="196936"/>
                </a:cubicBezTo>
                <a:cubicBezTo>
                  <a:pt x="91333" y="194838"/>
                  <a:pt x="90971" y="192705"/>
                  <a:pt x="90608" y="190556"/>
                </a:cubicBezTo>
                <a:cubicBezTo>
                  <a:pt x="90290" y="188595"/>
                  <a:pt x="89883" y="186652"/>
                  <a:pt x="89466" y="184725"/>
                </a:cubicBezTo>
                <a:cubicBezTo>
                  <a:pt x="89104" y="182954"/>
                  <a:pt x="88697" y="181131"/>
                  <a:pt x="88236" y="179394"/>
                </a:cubicBezTo>
                <a:cubicBezTo>
                  <a:pt x="87873" y="177760"/>
                  <a:pt x="87412" y="176161"/>
                  <a:pt x="86918" y="174579"/>
                </a:cubicBezTo>
                <a:cubicBezTo>
                  <a:pt x="86687" y="173839"/>
                  <a:pt x="86456" y="173117"/>
                  <a:pt x="86237" y="172394"/>
                </a:cubicBezTo>
                <a:cubicBezTo>
                  <a:pt x="86006" y="171706"/>
                  <a:pt x="85775" y="171019"/>
                  <a:pt x="85501" y="170348"/>
                </a:cubicBezTo>
                <a:cubicBezTo>
                  <a:pt x="85270" y="169660"/>
                  <a:pt x="85050" y="169024"/>
                  <a:pt x="84776" y="168387"/>
                </a:cubicBezTo>
                <a:cubicBezTo>
                  <a:pt x="84545" y="167785"/>
                  <a:pt x="84271" y="167201"/>
                  <a:pt x="84040" y="166599"/>
                </a:cubicBezTo>
                <a:cubicBezTo>
                  <a:pt x="83776" y="166065"/>
                  <a:pt x="83546" y="165515"/>
                  <a:pt x="83271" y="164965"/>
                </a:cubicBezTo>
                <a:cubicBezTo>
                  <a:pt x="83040" y="164518"/>
                  <a:pt x="82810" y="164053"/>
                  <a:pt x="82590" y="163606"/>
                </a:cubicBezTo>
                <a:cubicBezTo>
                  <a:pt x="82315" y="163142"/>
                  <a:pt x="82085" y="162695"/>
                  <a:pt x="81810" y="162230"/>
                </a:cubicBezTo>
                <a:cubicBezTo>
                  <a:pt x="81535" y="161817"/>
                  <a:pt x="81305" y="161422"/>
                  <a:pt x="81041" y="161009"/>
                </a:cubicBezTo>
                <a:cubicBezTo>
                  <a:pt x="80767" y="160596"/>
                  <a:pt x="80536" y="160235"/>
                  <a:pt x="80261" y="159857"/>
                </a:cubicBezTo>
                <a:cubicBezTo>
                  <a:pt x="79987" y="159547"/>
                  <a:pt x="79756" y="159221"/>
                  <a:pt x="79481" y="158911"/>
                </a:cubicBezTo>
                <a:cubicBezTo>
                  <a:pt x="79262" y="158636"/>
                  <a:pt x="78987" y="158361"/>
                  <a:pt x="78756" y="158085"/>
                </a:cubicBezTo>
                <a:cubicBezTo>
                  <a:pt x="78526" y="157862"/>
                  <a:pt x="78251" y="157638"/>
                  <a:pt x="78032" y="157398"/>
                </a:cubicBezTo>
                <a:cubicBezTo>
                  <a:pt x="77801" y="157174"/>
                  <a:pt x="77570" y="157002"/>
                  <a:pt x="77340" y="156813"/>
                </a:cubicBezTo>
                <a:cubicBezTo>
                  <a:pt x="72463" y="153029"/>
                  <a:pt x="73923" y="145290"/>
                  <a:pt x="79855" y="143553"/>
                </a:cubicBezTo>
                <a:cubicBezTo>
                  <a:pt x="82590" y="142745"/>
                  <a:pt x="85325" y="142057"/>
                  <a:pt x="88060" y="141420"/>
                </a:cubicBezTo>
                <a:cubicBezTo>
                  <a:pt x="90795" y="140836"/>
                  <a:pt x="93574" y="140320"/>
                  <a:pt x="96309" y="139924"/>
                </a:cubicBezTo>
                <a:cubicBezTo>
                  <a:pt x="99088" y="139511"/>
                  <a:pt x="101823" y="139236"/>
                  <a:pt x="104602" y="139013"/>
                </a:cubicBezTo>
                <a:cubicBezTo>
                  <a:pt x="107337" y="138824"/>
                  <a:pt x="110072" y="138738"/>
                  <a:pt x="112851" y="138738"/>
                </a:cubicBezTo>
                <a:moveTo>
                  <a:pt x="112829" y="0"/>
                </a:moveTo>
                <a:cubicBezTo>
                  <a:pt x="149714" y="0"/>
                  <a:pt x="184270" y="17989"/>
                  <a:pt x="205382" y="48206"/>
                </a:cubicBezTo>
                <a:cubicBezTo>
                  <a:pt x="226494" y="78441"/>
                  <a:pt x="231458" y="116999"/>
                  <a:pt x="218695" y="151602"/>
                </a:cubicBezTo>
                <a:cubicBezTo>
                  <a:pt x="205613" y="187064"/>
                  <a:pt x="166718" y="205776"/>
                  <a:pt x="160654" y="250698"/>
                </a:cubicBezTo>
                <a:cubicBezTo>
                  <a:pt x="162884" y="250113"/>
                  <a:pt x="165169" y="249562"/>
                  <a:pt x="167399" y="249012"/>
                </a:cubicBezTo>
                <a:cubicBezTo>
                  <a:pt x="171463" y="247980"/>
                  <a:pt x="175604" y="250474"/>
                  <a:pt x="176614" y="254533"/>
                </a:cubicBezTo>
                <a:cubicBezTo>
                  <a:pt x="177614" y="258574"/>
                  <a:pt x="175154" y="262719"/>
                  <a:pt x="171100" y="263734"/>
                </a:cubicBezTo>
                <a:cubicBezTo>
                  <a:pt x="133480" y="273107"/>
                  <a:pt x="95870" y="282480"/>
                  <a:pt x="58260" y="291904"/>
                </a:cubicBezTo>
                <a:cubicBezTo>
                  <a:pt x="54196" y="292902"/>
                  <a:pt x="50055" y="290443"/>
                  <a:pt x="49044" y="286349"/>
                </a:cubicBezTo>
                <a:cubicBezTo>
                  <a:pt x="48045" y="282291"/>
                  <a:pt x="50505" y="278197"/>
                  <a:pt x="54558" y="277148"/>
                </a:cubicBezTo>
                <a:cubicBezTo>
                  <a:pt x="85292" y="269512"/>
                  <a:pt x="116026" y="261808"/>
                  <a:pt x="146748" y="254172"/>
                </a:cubicBezTo>
                <a:cubicBezTo>
                  <a:pt x="145650" y="252486"/>
                  <a:pt x="145288" y="250938"/>
                  <a:pt x="145562" y="248978"/>
                </a:cubicBezTo>
                <a:cubicBezTo>
                  <a:pt x="145980" y="245796"/>
                  <a:pt x="146518" y="242700"/>
                  <a:pt x="147254" y="239605"/>
                </a:cubicBezTo>
                <a:cubicBezTo>
                  <a:pt x="147935" y="236595"/>
                  <a:pt x="148759" y="233671"/>
                  <a:pt x="149758" y="230817"/>
                </a:cubicBezTo>
                <a:cubicBezTo>
                  <a:pt x="150670" y="228030"/>
                  <a:pt x="151724" y="225296"/>
                  <a:pt x="152900" y="222613"/>
                </a:cubicBezTo>
                <a:cubicBezTo>
                  <a:pt x="153998" y="220016"/>
                  <a:pt x="155228" y="217471"/>
                  <a:pt x="156546" y="214960"/>
                </a:cubicBezTo>
                <a:cubicBezTo>
                  <a:pt x="157832" y="212604"/>
                  <a:pt x="159237" y="210230"/>
                  <a:pt x="160654" y="207909"/>
                </a:cubicBezTo>
                <a:cubicBezTo>
                  <a:pt x="162071" y="205673"/>
                  <a:pt x="163532" y="203489"/>
                  <a:pt x="165037" y="201304"/>
                </a:cubicBezTo>
                <a:cubicBezTo>
                  <a:pt x="166487" y="199223"/>
                  <a:pt x="168036" y="197160"/>
                  <a:pt x="169596" y="195165"/>
                </a:cubicBezTo>
                <a:cubicBezTo>
                  <a:pt x="171100" y="193170"/>
                  <a:pt x="172649" y="191244"/>
                  <a:pt x="174198" y="189335"/>
                </a:cubicBezTo>
                <a:cubicBezTo>
                  <a:pt x="175747" y="187477"/>
                  <a:pt x="177252" y="185603"/>
                  <a:pt x="178800" y="183780"/>
                </a:cubicBezTo>
                <a:cubicBezTo>
                  <a:pt x="180217" y="182094"/>
                  <a:pt x="181623" y="180409"/>
                  <a:pt x="183040" y="178775"/>
                </a:cubicBezTo>
                <a:cubicBezTo>
                  <a:pt x="183765" y="177915"/>
                  <a:pt x="184501" y="177038"/>
                  <a:pt x="185182" y="176178"/>
                </a:cubicBezTo>
                <a:cubicBezTo>
                  <a:pt x="186599" y="174493"/>
                  <a:pt x="188005" y="172807"/>
                  <a:pt x="189334" y="171087"/>
                </a:cubicBezTo>
                <a:cubicBezTo>
                  <a:pt x="190652" y="169436"/>
                  <a:pt x="191926" y="167802"/>
                  <a:pt x="193212" y="166117"/>
                </a:cubicBezTo>
                <a:cubicBezTo>
                  <a:pt x="194398" y="164535"/>
                  <a:pt x="195573" y="162884"/>
                  <a:pt x="196672" y="161198"/>
                </a:cubicBezTo>
                <a:cubicBezTo>
                  <a:pt x="197715" y="159616"/>
                  <a:pt x="198770" y="157965"/>
                  <a:pt x="199725" y="156280"/>
                </a:cubicBezTo>
                <a:cubicBezTo>
                  <a:pt x="200637" y="154697"/>
                  <a:pt x="201505" y="153046"/>
                  <a:pt x="202328" y="151378"/>
                </a:cubicBezTo>
                <a:cubicBezTo>
                  <a:pt x="203097" y="149727"/>
                  <a:pt x="203833" y="148042"/>
                  <a:pt x="204470" y="146356"/>
                </a:cubicBezTo>
                <a:cubicBezTo>
                  <a:pt x="215498" y="116449"/>
                  <a:pt x="211171" y="83033"/>
                  <a:pt x="192937" y="56909"/>
                </a:cubicBezTo>
                <a:cubicBezTo>
                  <a:pt x="174648" y="30733"/>
                  <a:pt x="144738" y="15152"/>
                  <a:pt x="112829" y="15152"/>
                </a:cubicBezTo>
                <a:cubicBezTo>
                  <a:pt x="80920" y="15152"/>
                  <a:pt x="51010" y="30733"/>
                  <a:pt x="32722" y="56909"/>
                </a:cubicBezTo>
                <a:cubicBezTo>
                  <a:pt x="14488" y="83033"/>
                  <a:pt x="10160" y="116449"/>
                  <a:pt x="21188" y="146356"/>
                </a:cubicBezTo>
                <a:cubicBezTo>
                  <a:pt x="21650" y="147543"/>
                  <a:pt x="22144" y="148730"/>
                  <a:pt x="22649" y="149916"/>
                </a:cubicBezTo>
                <a:cubicBezTo>
                  <a:pt x="23199" y="151103"/>
                  <a:pt x="23748" y="152273"/>
                  <a:pt x="24341" y="153425"/>
                </a:cubicBezTo>
                <a:cubicBezTo>
                  <a:pt x="24978" y="154594"/>
                  <a:pt x="25615" y="155747"/>
                  <a:pt x="26296" y="156882"/>
                </a:cubicBezTo>
                <a:cubicBezTo>
                  <a:pt x="26977" y="158068"/>
                  <a:pt x="27669" y="159203"/>
                  <a:pt x="28438" y="160338"/>
                </a:cubicBezTo>
                <a:cubicBezTo>
                  <a:pt x="29218" y="161525"/>
                  <a:pt x="29987" y="162712"/>
                  <a:pt x="30811" y="163847"/>
                </a:cubicBezTo>
                <a:cubicBezTo>
                  <a:pt x="31316" y="164569"/>
                  <a:pt x="31810" y="165257"/>
                  <a:pt x="32359" y="165979"/>
                </a:cubicBezTo>
                <a:cubicBezTo>
                  <a:pt x="33227" y="167166"/>
                  <a:pt x="34139" y="168353"/>
                  <a:pt x="35050" y="169488"/>
                </a:cubicBezTo>
                <a:cubicBezTo>
                  <a:pt x="35962" y="170726"/>
                  <a:pt x="36918" y="171896"/>
                  <a:pt x="37873" y="173048"/>
                </a:cubicBezTo>
                <a:cubicBezTo>
                  <a:pt x="38884" y="174269"/>
                  <a:pt x="39884" y="175456"/>
                  <a:pt x="40883" y="176677"/>
                </a:cubicBezTo>
                <a:cubicBezTo>
                  <a:pt x="42025" y="178053"/>
                  <a:pt x="43212" y="179411"/>
                  <a:pt x="44354" y="180821"/>
                </a:cubicBezTo>
                <a:cubicBezTo>
                  <a:pt x="45584" y="182232"/>
                  <a:pt x="46815" y="183694"/>
                  <a:pt x="48001" y="185155"/>
                </a:cubicBezTo>
                <a:cubicBezTo>
                  <a:pt x="49088" y="186462"/>
                  <a:pt x="50187" y="187752"/>
                  <a:pt x="51230" y="189059"/>
                </a:cubicBezTo>
                <a:cubicBezTo>
                  <a:pt x="52329" y="190435"/>
                  <a:pt x="53427" y="191742"/>
                  <a:pt x="54514" y="193118"/>
                </a:cubicBezTo>
                <a:cubicBezTo>
                  <a:pt x="55613" y="194528"/>
                  <a:pt x="56711" y="195939"/>
                  <a:pt x="57755" y="197349"/>
                </a:cubicBezTo>
                <a:cubicBezTo>
                  <a:pt x="58853" y="198811"/>
                  <a:pt x="59897" y="200307"/>
                  <a:pt x="60951" y="201803"/>
                </a:cubicBezTo>
                <a:cubicBezTo>
                  <a:pt x="62039" y="203317"/>
                  <a:pt x="63038" y="204864"/>
                  <a:pt x="64093" y="206447"/>
                </a:cubicBezTo>
                <a:cubicBezTo>
                  <a:pt x="64730" y="207461"/>
                  <a:pt x="65323" y="208407"/>
                  <a:pt x="65916" y="209456"/>
                </a:cubicBezTo>
                <a:cubicBezTo>
                  <a:pt x="66916" y="211090"/>
                  <a:pt x="67871" y="212776"/>
                  <a:pt x="68838" y="214461"/>
                </a:cubicBezTo>
                <a:cubicBezTo>
                  <a:pt x="69749" y="216198"/>
                  <a:pt x="70661" y="217969"/>
                  <a:pt x="71474" y="219741"/>
                </a:cubicBezTo>
                <a:cubicBezTo>
                  <a:pt x="72342" y="221615"/>
                  <a:pt x="73166" y="223473"/>
                  <a:pt x="73934" y="225347"/>
                </a:cubicBezTo>
                <a:cubicBezTo>
                  <a:pt x="74714" y="227308"/>
                  <a:pt x="75395" y="229269"/>
                  <a:pt x="76087" y="231212"/>
                </a:cubicBezTo>
                <a:cubicBezTo>
                  <a:pt x="76724" y="233276"/>
                  <a:pt x="77318" y="235322"/>
                  <a:pt x="77856" y="237369"/>
                </a:cubicBezTo>
                <a:cubicBezTo>
                  <a:pt x="78910" y="241411"/>
                  <a:pt x="76450" y="245555"/>
                  <a:pt x="72386" y="246604"/>
                </a:cubicBezTo>
                <a:cubicBezTo>
                  <a:pt x="68333" y="247653"/>
                  <a:pt x="64180" y="245194"/>
                  <a:pt x="63181" y="241153"/>
                </a:cubicBezTo>
                <a:cubicBezTo>
                  <a:pt x="53328" y="202955"/>
                  <a:pt x="19090" y="184416"/>
                  <a:pt x="6964" y="151602"/>
                </a:cubicBezTo>
                <a:cubicBezTo>
                  <a:pt x="-5800" y="116999"/>
                  <a:pt x="-835" y="78441"/>
                  <a:pt x="20277" y="48206"/>
                </a:cubicBezTo>
                <a:cubicBezTo>
                  <a:pt x="41388" y="17989"/>
                  <a:pt x="75945" y="0"/>
                  <a:pt x="112829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4" name="Text 1"/>
          <p:cNvSpPr/>
          <p:nvPr/>
        </p:nvSpPr>
        <p:spPr>
          <a:xfrm>
            <a:off x="6057626" y="1401958"/>
            <a:ext cx="225674" cy="37152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5" name="Shape 2"/>
          <p:cNvSpPr/>
          <p:nvPr/>
        </p:nvSpPr>
        <p:spPr>
          <a:xfrm>
            <a:off x="6058906" y="3062051"/>
            <a:ext cx="248534" cy="228783"/>
          </a:xfrm>
          <a:custGeom>
            <a:avLst/>
            <a:gdLst/>
            <a:ahLst/>
            <a:cxnLst/>
            <a:rect l="l" t="t" r="r" b="b"/>
            <a:pathLst>
              <a:path w="248534" h="228783">
                <a:moveTo>
                  <a:pt x="69762" y="225675"/>
                </a:moveTo>
                <a:cubicBezTo>
                  <a:pt x="73223" y="229567"/>
                  <a:pt x="79274" y="229995"/>
                  <a:pt x="83594" y="226114"/>
                </a:cubicBezTo>
                <a:lnTo>
                  <a:pt x="245358" y="79766"/>
                </a:lnTo>
                <a:cubicBezTo>
                  <a:pt x="249249" y="76312"/>
                  <a:pt x="249678" y="70271"/>
                  <a:pt x="246218" y="65951"/>
                </a:cubicBezTo>
                <a:lnTo>
                  <a:pt x="204270" y="20187"/>
                </a:lnTo>
                <a:cubicBezTo>
                  <a:pt x="200368" y="15878"/>
                  <a:pt x="194317" y="15878"/>
                  <a:pt x="190426" y="19332"/>
                </a:cubicBezTo>
                <a:lnTo>
                  <a:pt x="52458" y="143653"/>
                </a:lnTo>
                <a:cubicBezTo>
                  <a:pt x="48568" y="147545"/>
                  <a:pt x="48138" y="153587"/>
                  <a:pt x="52028" y="157468"/>
                </a:cubicBezTo>
                <a:lnTo>
                  <a:pt x="74512" y="182510"/>
                </a:lnTo>
                <a:cubicBezTo>
                  <a:pt x="77973" y="186391"/>
                  <a:pt x="84465" y="186830"/>
                  <a:pt x="88355" y="182938"/>
                </a:cubicBezTo>
                <a:lnTo>
                  <a:pt x="146307" y="130705"/>
                </a:lnTo>
                <a:cubicBezTo>
                  <a:pt x="150197" y="127251"/>
                  <a:pt x="150639" y="120772"/>
                  <a:pt x="147178" y="116890"/>
                </a:cubicBezTo>
                <a:lnTo>
                  <a:pt x="140256" y="109555"/>
                </a:lnTo>
                <a:lnTo>
                  <a:pt x="82305" y="162216"/>
                </a:lnTo>
                <a:lnTo>
                  <a:pt x="73223" y="151855"/>
                </a:lnTo>
                <a:lnTo>
                  <a:pt x="196477" y="40482"/>
                </a:lnTo>
                <a:lnTo>
                  <a:pt x="225023" y="71992"/>
                </a:lnTo>
                <a:lnTo>
                  <a:pt x="77543" y="205392"/>
                </a:lnTo>
                <a:lnTo>
                  <a:pt x="23912" y="145813"/>
                </a:lnTo>
                <a:lnTo>
                  <a:pt x="173564" y="10265"/>
                </a:lnTo>
                <a:lnTo>
                  <a:pt x="167072" y="3357"/>
                </a:lnTo>
                <a:cubicBezTo>
                  <a:pt x="163181" y="-962"/>
                  <a:pt x="157119" y="-962"/>
                  <a:pt x="153228" y="2491"/>
                </a:cubicBezTo>
                <a:lnTo>
                  <a:pt x="3147" y="138040"/>
                </a:lnTo>
                <a:cubicBezTo>
                  <a:pt x="-743" y="141494"/>
                  <a:pt x="-1173" y="147545"/>
                  <a:pt x="2718" y="151855"/>
                </a:cubicBezTo>
                <a:lnTo>
                  <a:pt x="69762" y="225675"/>
                </a:lnTo>
                <a:close/>
              </a:path>
            </a:pathLst>
          </a:custGeom>
          <a:solidFill>
            <a:srgbClr val="4674EB"/>
          </a:solidFill>
        </p:spPr>
      </p:sp>
      <p:sp>
        <p:nvSpPr>
          <p:cNvPr id="6" name="Text 3"/>
          <p:cNvSpPr/>
          <p:nvPr/>
        </p:nvSpPr>
        <p:spPr>
          <a:xfrm>
            <a:off x="6058906" y="3062051"/>
            <a:ext cx="248534" cy="22878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7" name="Text 4"/>
          <p:cNvSpPr/>
          <p:nvPr/>
        </p:nvSpPr>
        <p:spPr>
          <a:xfrm>
            <a:off x="6019038" y="1817004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在探究摩擦力实验中，选用表面平整的长木板作为接触面，将木块置于其上，用弹簧测力计水平拉动，记录不同压力下木块匀速运动时的拉力，分析摩擦力变化。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6390559" y="1426464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木块、长木板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6019038" y="3394436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在探究摩檫力的实验中，需准备弹簧测力计来精确测量拉力大小，砝码用于改变物体对接触面的压力，二者配合可系统分析压力对滑动摩檫力的影响规律。</a:t>
            </a:r>
            <a:endParaRPr lang="en-US" sz="1460" dirty="0"/>
          </a:p>
        </p:txBody>
      </p:sp>
      <p:sp>
        <p:nvSpPr>
          <p:cNvPr id="10" name="Text 7"/>
          <p:cNvSpPr/>
          <p:nvPr/>
        </p:nvSpPr>
        <p:spPr>
          <a:xfrm>
            <a:off x="6390559" y="3038917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弹簧测力计、砝码</a:t>
            </a:r>
            <a:endParaRPr lang="en-US" sz="1460" dirty="0"/>
          </a:p>
        </p:txBody>
      </p:sp>
      <p:sp>
        <p:nvSpPr>
          <p:cNvPr id="11" name="Text 8"/>
          <p:cNvSpPr/>
          <p:nvPr/>
        </p:nvSpPr>
        <p:spPr>
          <a:xfrm>
            <a:off x="847283" y="99578"/>
            <a:ext cx="7588057" cy="462772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实验器材准备</a:t>
            </a:r>
            <a:endParaRPr lang="en-US" sz="146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85" y="953953"/>
            <a:ext cx="3534886" cy="32355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889" y="1111087"/>
            <a:ext cx="5137831" cy="415766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345"/>
              </a:lnSpc>
              <a:spcBef>
                <a:spcPts val="365"/>
              </a:spcBef>
              <a:buNone/>
            </a:pPr>
            <a:r>
              <a:rPr lang="en-US" sz="16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测量滑动摩檫力</a:t>
            </a:r>
            <a:endParaRPr lang="en-US" sz="1460" dirty="0"/>
          </a:p>
        </p:txBody>
      </p:sp>
      <p:sp>
        <p:nvSpPr>
          <p:cNvPr id="4" name="Text 1"/>
          <p:cNvSpPr/>
          <p:nvPr/>
        </p:nvSpPr>
        <p:spPr>
          <a:xfrm>
            <a:off x="622889" y="1620225"/>
            <a:ext cx="5137831" cy="36861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用弹簧测力计水平拉动木块在长木板上匀速滑动，此时测力计示数等于滑动摩擦力大小。实验需控制接触面粗糙程度、压力，多次测量取平均值以提高准确性。</a:t>
            </a:r>
            <a:endParaRPr lang="en-US" sz="1460" dirty="0"/>
          </a:p>
        </p:txBody>
      </p:sp>
      <p:sp>
        <p:nvSpPr>
          <p:cNvPr id="5" name="Text 2"/>
          <p:cNvSpPr/>
          <p:nvPr/>
        </p:nvSpPr>
        <p:spPr>
          <a:xfrm>
            <a:off x="567202" y="3011851"/>
            <a:ext cx="4980645" cy="415766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2345"/>
              </a:lnSpc>
              <a:spcBef>
                <a:spcPts val="365"/>
              </a:spcBef>
              <a:buNone/>
            </a:pPr>
            <a:r>
              <a:rPr lang="en-US" sz="168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改变条件多次测量</a:t>
            </a:r>
            <a:endParaRPr lang="en-US" sz="1460" dirty="0"/>
          </a:p>
        </p:txBody>
      </p:sp>
      <p:sp>
        <p:nvSpPr>
          <p:cNvPr id="6" name="Text 3"/>
          <p:cNvSpPr/>
          <p:nvPr/>
        </p:nvSpPr>
        <p:spPr>
          <a:xfrm>
            <a:off x="567202" y="3534430"/>
            <a:ext cx="5194981" cy="36861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研究物体所受摩擦力时，改变接触面粗糙程度多次测量摩擦力大小，如分别在木板、砂纸、毛巾表面用弹簧测力计水平匀速拉同一木块，记录数据并分析。</a:t>
            </a:r>
            <a:endParaRPr lang="en-US" sz="1460" dirty="0"/>
          </a:p>
        </p:txBody>
      </p:sp>
      <p:sp>
        <p:nvSpPr>
          <p:cNvPr id="7" name="Shape 4"/>
          <p:cNvSpPr/>
          <p:nvPr/>
        </p:nvSpPr>
        <p:spPr>
          <a:xfrm>
            <a:off x="663306" y="4466295"/>
            <a:ext cx="526146" cy="92263"/>
          </a:xfrm>
          <a:custGeom>
            <a:avLst/>
            <a:gdLst/>
            <a:ahLst/>
            <a:cxnLst/>
            <a:rect l="l" t="t" r="r" b="b"/>
            <a:pathLst>
              <a:path w="526146" h="92263">
                <a:moveTo>
                  <a:pt x="0" y="0"/>
                </a:moveTo>
                <a:lnTo>
                  <a:pt x="526146" y="0"/>
                </a:lnTo>
                <a:lnTo>
                  <a:pt x="526146" y="92263"/>
                </a:lnTo>
                <a:lnTo>
                  <a:pt x="0" y="92263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8" name="Text 5"/>
          <p:cNvSpPr/>
          <p:nvPr/>
        </p:nvSpPr>
        <p:spPr>
          <a:xfrm>
            <a:off x="663306" y="4466295"/>
            <a:ext cx="526146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9" name="Shape 6"/>
          <p:cNvSpPr/>
          <p:nvPr/>
        </p:nvSpPr>
        <p:spPr>
          <a:xfrm>
            <a:off x="623621" y="4466295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0" name="Text 7"/>
          <p:cNvSpPr/>
          <p:nvPr/>
        </p:nvSpPr>
        <p:spPr>
          <a:xfrm>
            <a:off x="623621" y="4466295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1" name="Shape 8"/>
          <p:cNvSpPr/>
          <p:nvPr/>
        </p:nvSpPr>
        <p:spPr>
          <a:xfrm>
            <a:off x="1135685" y="4466295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2" name="Text 9"/>
          <p:cNvSpPr/>
          <p:nvPr/>
        </p:nvSpPr>
        <p:spPr>
          <a:xfrm>
            <a:off x="1135685" y="4466295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3" name="Shape 10"/>
          <p:cNvSpPr/>
          <p:nvPr/>
        </p:nvSpPr>
        <p:spPr>
          <a:xfrm>
            <a:off x="1189360" y="4535655"/>
            <a:ext cx="4340081" cy="0"/>
          </a:xfrm>
          <a:custGeom>
            <a:avLst/>
            <a:gdLst/>
            <a:ahLst/>
            <a:cxnLst/>
            <a:rect l="l" t="t" r="r" b="b"/>
            <a:pathLst>
              <a:path w="4340081">
                <a:moveTo>
                  <a:pt x="0" y="0"/>
                </a:moveTo>
                <a:lnTo>
                  <a:pt x="4340081" y="0"/>
                </a:lnTo>
              </a:path>
            </a:pathLst>
          </a:custGeom>
          <a:noFill/>
          <a:ln w="10430">
            <a:solidFill>
              <a:srgbClr val="4674EB"/>
            </a:solidFill>
            <a:prstDash val="dash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39531" y="2722077"/>
            <a:ext cx="526146" cy="92263"/>
          </a:xfrm>
          <a:custGeom>
            <a:avLst/>
            <a:gdLst/>
            <a:ahLst/>
            <a:cxnLst/>
            <a:rect l="l" t="t" r="r" b="b"/>
            <a:pathLst>
              <a:path w="526146" h="92263">
                <a:moveTo>
                  <a:pt x="0" y="0"/>
                </a:moveTo>
                <a:lnTo>
                  <a:pt x="526146" y="0"/>
                </a:lnTo>
                <a:lnTo>
                  <a:pt x="526146" y="92263"/>
                </a:lnTo>
                <a:lnTo>
                  <a:pt x="0" y="92263"/>
                </a:lnTo>
                <a:close/>
              </a:path>
            </a:pathLst>
          </a:custGeom>
          <a:solidFill>
            <a:srgbClr val="90ACF3"/>
          </a:solidFill>
        </p:spPr>
      </p:sp>
      <p:sp>
        <p:nvSpPr>
          <p:cNvPr id="15" name="Text 12"/>
          <p:cNvSpPr/>
          <p:nvPr/>
        </p:nvSpPr>
        <p:spPr>
          <a:xfrm>
            <a:off x="639531" y="2722077"/>
            <a:ext cx="526146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6" name="Shape 13"/>
          <p:cNvSpPr/>
          <p:nvPr/>
        </p:nvSpPr>
        <p:spPr>
          <a:xfrm>
            <a:off x="599846" y="2722077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7" name="Text 14"/>
          <p:cNvSpPr/>
          <p:nvPr/>
        </p:nvSpPr>
        <p:spPr>
          <a:xfrm>
            <a:off x="599846" y="2722077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18" name="Shape 15"/>
          <p:cNvSpPr/>
          <p:nvPr/>
        </p:nvSpPr>
        <p:spPr>
          <a:xfrm>
            <a:off x="1111910" y="2722077"/>
            <a:ext cx="92263" cy="92263"/>
          </a:xfrm>
          <a:custGeom>
            <a:avLst/>
            <a:gdLst/>
            <a:ahLst/>
            <a:cxnLst/>
            <a:rect l="l" t="t" r="r" b="b"/>
            <a:pathLst>
              <a:path w="92263" h="92263">
                <a:moveTo>
                  <a:pt x="46131" y="0"/>
                </a:moveTo>
                <a:cubicBezTo>
                  <a:pt x="71592" y="0"/>
                  <a:pt x="92263" y="20671"/>
                  <a:pt x="92263" y="46131"/>
                </a:cubicBezTo>
                <a:cubicBezTo>
                  <a:pt x="92263" y="71592"/>
                  <a:pt x="71592" y="92263"/>
                  <a:pt x="46131" y="92263"/>
                </a:cubicBezTo>
                <a:cubicBezTo>
                  <a:pt x="20671" y="92263"/>
                  <a:pt x="0" y="71592"/>
                  <a:pt x="0" y="46131"/>
                </a:cubicBezTo>
                <a:cubicBezTo>
                  <a:pt x="0" y="20671"/>
                  <a:pt x="20671" y="0"/>
                  <a:pt x="46131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19" name="Text 16"/>
          <p:cNvSpPr/>
          <p:nvPr/>
        </p:nvSpPr>
        <p:spPr>
          <a:xfrm>
            <a:off x="1111910" y="2722077"/>
            <a:ext cx="92263" cy="9226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20" name="Shape 17"/>
          <p:cNvSpPr/>
          <p:nvPr/>
        </p:nvSpPr>
        <p:spPr>
          <a:xfrm>
            <a:off x="1165586" y="2807135"/>
            <a:ext cx="4405944" cy="0"/>
          </a:xfrm>
          <a:custGeom>
            <a:avLst/>
            <a:gdLst/>
            <a:ahLst/>
            <a:cxnLst/>
            <a:rect l="l" t="t" r="r" b="b"/>
            <a:pathLst>
              <a:path w="4405944">
                <a:moveTo>
                  <a:pt x="0" y="0"/>
                </a:moveTo>
                <a:lnTo>
                  <a:pt x="4405944" y="0"/>
                </a:lnTo>
              </a:path>
            </a:pathLst>
          </a:custGeom>
          <a:noFill/>
          <a:ln w="10430">
            <a:solidFill>
              <a:srgbClr val="4674EB"/>
            </a:solidFill>
            <a:prstDash val="dash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916777" y="110002"/>
            <a:ext cx="7588057" cy="4810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实验步骤设计</a:t>
            </a:r>
            <a:endParaRPr lang="en-US" sz="146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52434" y="974476"/>
            <a:ext cx="2759842" cy="36798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4637" y="1061527"/>
            <a:ext cx="3632637" cy="3632454"/>
          </a:xfrm>
          <a:prstGeom prst="ellipse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46285" y="1554389"/>
            <a:ext cx="4290090" cy="368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在探究物体运动时，可记录不同接触面粗糙程度、正压力下物体所受摩擦力大小。如在光滑木板、粗糙砂纸表面，施加不同压力，测量并记录对应的摩擦力实验数据。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4746285" y="1064544"/>
            <a:ext cx="4292742" cy="37861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记录不同条件下的值</a:t>
            </a:r>
            <a:endParaRPr lang="en-US" sz="1460" dirty="0"/>
          </a:p>
        </p:txBody>
      </p:sp>
      <p:sp>
        <p:nvSpPr>
          <p:cNvPr id="6" name="Text 2"/>
          <p:cNvSpPr/>
          <p:nvPr/>
        </p:nvSpPr>
        <p:spPr>
          <a:xfrm>
            <a:off x="4746285" y="3424519"/>
            <a:ext cx="4290090" cy="36818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将不同材质表面间的摩擦力实验数据整理成表格，包含实验序号、材质组合、正压力、滑动摩擦力数值等，可清晰对比不同条件下的摩擦力变化。</a:t>
            </a:r>
            <a:endParaRPr lang="en-US" sz="1460" dirty="0"/>
          </a:p>
        </p:txBody>
      </p:sp>
      <p:sp>
        <p:nvSpPr>
          <p:cNvPr id="7" name="Text 3"/>
          <p:cNvSpPr/>
          <p:nvPr/>
        </p:nvSpPr>
        <p:spPr>
          <a:xfrm>
            <a:off x="4746285" y="2952963"/>
            <a:ext cx="4290090" cy="37861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2040"/>
              </a:lnSpc>
              <a:spcBef>
                <a:spcPts val="365"/>
              </a:spcBef>
              <a:buNone/>
            </a:pPr>
            <a:r>
              <a:rPr lang="en-US" sz="146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整理成表格形式</a:t>
            </a:r>
            <a:endParaRPr lang="en-US" sz="1460" dirty="0"/>
          </a:p>
        </p:txBody>
      </p:sp>
      <p:sp>
        <p:nvSpPr>
          <p:cNvPr id="8" name="Text 4"/>
          <p:cNvSpPr/>
          <p:nvPr/>
        </p:nvSpPr>
        <p:spPr>
          <a:xfrm>
            <a:off x="916777" y="110002"/>
            <a:ext cx="7588057" cy="4810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b="1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实验数据记录</a:t>
            </a:r>
            <a:endParaRPr lang="en-US" sz="14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57626" y="1401958"/>
            <a:ext cx="225674" cy="371521"/>
          </a:xfrm>
          <a:custGeom>
            <a:avLst/>
            <a:gdLst/>
            <a:ahLst/>
            <a:cxnLst/>
            <a:rect l="l" t="t" r="r" b="b"/>
            <a:pathLst>
              <a:path w="225674" h="371521">
                <a:moveTo>
                  <a:pt x="85105" y="348383"/>
                </a:moveTo>
                <a:cubicBezTo>
                  <a:pt x="88159" y="345511"/>
                  <a:pt x="92992" y="345752"/>
                  <a:pt x="95826" y="348847"/>
                </a:cubicBezTo>
                <a:cubicBezTo>
                  <a:pt x="104943" y="358822"/>
                  <a:pt x="120716" y="358822"/>
                  <a:pt x="129833" y="348847"/>
                </a:cubicBezTo>
                <a:cubicBezTo>
                  <a:pt x="132667" y="345752"/>
                  <a:pt x="137489" y="345511"/>
                  <a:pt x="140553" y="348383"/>
                </a:cubicBezTo>
                <a:cubicBezTo>
                  <a:pt x="143651" y="351221"/>
                  <a:pt x="143882" y="356002"/>
                  <a:pt x="141048" y="359098"/>
                </a:cubicBezTo>
                <a:cubicBezTo>
                  <a:pt x="133798" y="366974"/>
                  <a:pt x="123539" y="371480"/>
                  <a:pt x="112829" y="371480"/>
                </a:cubicBezTo>
                <a:cubicBezTo>
                  <a:pt x="102120" y="371480"/>
                  <a:pt x="91861" y="366974"/>
                  <a:pt x="84611" y="359098"/>
                </a:cubicBezTo>
                <a:cubicBezTo>
                  <a:pt x="81777" y="356002"/>
                  <a:pt x="82008" y="351221"/>
                  <a:pt x="85105" y="348383"/>
                </a:cubicBezTo>
                <a:moveTo>
                  <a:pt x="167388" y="304218"/>
                </a:moveTo>
                <a:cubicBezTo>
                  <a:pt x="171441" y="303221"/>
                  <a:pt x="175593" y="305680"/>
                  <a:pt x="176592" y="309773"/>
                </a:cubicBezTo>
                <a:cubicBezTo>
                  <a:pt x="177603" y="313815"/>
                  <a:pt x="175143" y="317925"/>
                  <a:pt x="171078" y="318923"/>
                </a:cubicBezTo>
                <a:cubicBezTo>
                  <a:pt x="133480" y="328347"/>
                  <a:pt x="95870" y="337720"/>
                  <a:pt x="58271" y="347110"/>
                </a:cubicBezTo>
                <a:cubicBezTo>
                  <a:pt x="54218" y="348108"/>
                  <a:pt x="50066" y="345649"/>
                  <a:pt x="49066" y="341590"/>
                </a:cubicBezTo>
                <a:cubicBezTo>
                  <a:pt x="48056" y="337548"/>
                  <a:pt x="50516" y="333404"/>
                  <a:pt x="54580" y="332406"/>
                </a:cubicBezTo>
                <a:cubicBezTo>
                  <a:pt x="92179" y="323016"/>
                  <a:pt x="129789" y="313643"/>
                  <a:pt x="167388" y="304218"/>
                </a:cubicBezTo>
                <a:moveTo>
                  <a:pt x="167388" y="276667"/>
                </a:moveTo>
                <a:cubicBezTo>
                  <a:pt x="171441" y="275618"/>
                  <a:pt x="175593" y="278077"/>
                  <a:pt x="176592" y="282170"/>
                </a:cubicBezTo>
                <a:cubicBezTo>
                  <a:pt x="177603" y="286212"/>
                  <a:pt x="175143" y="290305"/>
                  <a:pt x="171078" y="291354"/>
                </a:cubicBezTo>
                <a:cubicBezTo>
                  <a:pt x="133480" y="300727"/>
                  <a:pt x="95870" y="310083"/>
                  <a:pt x="58271" y="319456"/>
                </a:cubicBezTo>
                <a:cubicBezTo>
                  <a:pt x="54218" y="320505"/>
                  <a:pt x="50066" y="318011"/>
                  <a:pt x="49066" y="313952"/>
                </a:cubicBezTo>
                <a:cubicBezTo>
                  <a:pt x="48056" y="309911"/>
                  <a:pt x="50516" y="305818"/>
                  <a:pt x="54580" y="304769"/>
                </a:cubicBezTo>
                <a:cubicBezTo>
                  <a:pt x="92179" y="295396"/>
                  <a:pt x="129789" y="286023"/>
                  <a:pt x="167388" y="276667"/>
                </a:cubicBezTo>
                <a:moveTo>
                  <a:pt x="112851" y="138738"/>
                </a:moveTo>
                <a:cubicBezTo>
                  <a:pt x="115630" y="138738"/>
                  <a:pt x="118365" y="138824"/>
                  <a:pt x="121100" y="139013"/>
                </a:cubicBezTo>
                <a:cubicBezTo>
                  <a:pt x="123879" y="139236"/>
                  <a:pt x="126658" y="139511"/>
                  <a:pt x="129394" y="139924"/>
                </a:cubicBezTo>
                <a:cubicBezTo>
                  <a:pt x="132129" y="140320"/>
                  <a:pt x="134908" y="140836"/>
                  <a:pt x="137643" y="141420"/>
                </a:cubicBezTo>
                <a:cubicBezTo>
                  <a:pt x="140378" y="142057"/>
                  <a:pt x="143113" y="142745"/>
                  <a:pt x="145848" y="143553"/>
                </a:cubicBezTo>
                <a:cubicBezTo>
                  <a:pt x="151779" y="145290"/>
                  <a:pt x="153229" y="153029"/>
                  <a:pt x="148352" y="156813"/>
                </a:cubicBezTo>
                <a:cubicBezTo>
                  <a:pt x="148133" y="157002"/>
                  <a:pt x="147902" y="157174"/>
                  <a:pt x="147671" y="157398"/>
                </a:cubicBezTo>
                <a:cubicBezTo>
                  <a:pt x="147440" y="157638"/>
                  <a:pt x="147177" y="157862"/>
                  <a:pt x="146946" y="158085"/>
                </a:cubicBezTo>
                <a:cubicBezTo>
                  <a:pt x="146716" y="158361"/>
                  <a:pt x="146441" y="158636"/>
                  <a:pt x="146210" y="158911"/>
                </a:cubicBezTo>
                <a:cubicBezTo>
                  <a:pt x="145947" y="159221"/>
                  <a:pt x="145716" y="159547"/>
                  <a:pt x="145441" y="159857"/>
                </a:cubicBezTo>
                <a:cubicBezTo>
                  <a:pt x="145167" y="160235"/>
                  <a:pt x="144936" y="160596"/>
                  <a:pt x="144662" y="161009"/>
                </a:cubicBezTo>
                <a:cubicBezTo>
                  <a:pt x="144387" y="161422"/>
                  <a:pt x="144167" y="161817"/>
                  <a:pt x="143893" y="162230"/>
                </a:cubicBezTo>
                <a:cubicBezTo>
                  <a:pt x="143618" y="162695"/>
                  <a:pt x="143387" y="163142"/>
                  <a:pt x="143113" y="163606"/>
                </a:cubicBezTo>
                <a:cubicBezTo>
                  <a:pt x="142893" y="164053"/>
                  <a:pt x="142662" y="164518"/>
                  <a:pt x="142432" y="164965"/>
                </a:cubicBezTo>
                <a:cubicBezTo>
                  <a:pt x="142157" y="165515"/>
                  <a:pt x="141926" y="166065"/>
                  <a:pt x="141663" y="166599"/>
                </a:cubicBezTo>
                <a:cubicBezTo>
                  <a:pt x="141432" y="167201"/>
                  <a:pt x="141158" y="167785"/>
                  <a:pt x="140927" y="168387"/>
                </a:cubicBezTo>
                <a:cubicBezTo>
                  <a:pt x="140652" y="169024"/>
                  <a:pt x="140422" y="169660"/>
                  <a:pt x="140202" y="170348"/>
                </a:cubicBezTo>
                <a:cubicBezTo>
                  <a:pt x="139927" y="171019"/>
                  <a:pt x="139697" y="171706"/>
                  <a:pt x="139466" y="172394"/>
                </a:cubicBezTo>
                <a:cubicBezTo>
                  <a:pt x="139246" y="173117"/>
                  <a:pt x="139016" y="173839"/>
                  <a:pt x="138785" y="174579"/>
                </a:cubicBezTo>
                <a:cubicBezTo>
                  <a:pt x="138554" y="175352"/>
                  <a:pt x="138335" y="176126"/>
                  <a:pt x="138104" y="176900"/>
                </a:cubicBezTo>
                <a:cubicBezTo>
                  <a:pt x="137873" y="177726"/>
                  <a:pt x="137643" y="178586"/>
                  <a:pt x="137467" y="179394"/>
                </a:cubicBezTo>
                <a:cubicBezTo>
                  <a:pt x="137236" y="180271"/>
                  <a:pt x="137006" y="181131"/>
                  <a:pt x="136830" y="181991"/>
                </a:cubicBezTo>
                <a:cubicBezTo>
                  <a:pt x="136599" y="182902"/>
                  <a:pt x="136412" y="183814"/>
                  <a:pt x="136237" y="184725"/>
                </a:cubicBezTo>
                <a:cubicBezTo>
                  <a:pt x="135819" y="186686"/>
                  <a:pt x="135413" y="188595"/>
                  <a:pt x="135094" y="190556"/>
                </a:cubicBezTo>
                <a:cubicBezTo>
                  <a:pt x="134732" y="192705"/>
                  <a:pt x="134369" y="194838"/>
                  <a:pt x="134095" y="196936"/>
                </a:cubicBezTo>
                <a:cubicBezTo>
                  <a:pt x="133820" y="198708"/>
                  <a:pt x="133589" y="200496"/>
                  <a:pt x="133359" y="202268"/>
                </a:cubicBezTo>
                <a:cubicBezTo>
                  <a:pt x="133084" y="204675"/>
                  <a:pt x="132810" y="207135"/>
                  <a:pt x="132590" y="209542"/>
                </a:cubicBezTo>
                <a:cubicBezTo>
                  <a:pt x="132315" y="212139"/>
                  <a:pt x="132085" y="214736"/>
                  <a:pt x="131854" y="217333"/>
                </a:cubicBezTo>
                <a:cubicBezTo>
                  <a:pt x="131678" y="220068"/>
                  <a:pt x="131491" y="222854"/>
                  <a:pt x="131316" y="225623"/>
                </a:cubicBezTo>
                <a:cubicBezTo>
                  <a:pt x="131085" y="229819"/>
                  <a:pt x="127482" y="233001"/>
                  <a:pt x="123286" y="232725"/>
                </a:cubicBezTo>
                <a:cubicBezTo>
                  <a:pt x="119090" y="232502"/>
                  <a:pt x="115905" y="228908"/>
                  <a:pt x="116180" y="224711"/>
                </a:cubicBezTo>
                <a:cubicBezTo>
                  <a:pt x="116410" y="220945"/>
                  <a:pt x="116630" y="217161"/>
                  <a:pt x="116948" y="213429"/>
                </a:cubicBezTo>
                <a:cubicBezTo>
                  <a:pt x="117135" y="211606"/>
                  <a:pt x="117267" y="209818"/>
                  <a:pt x="117454" y="208046"/>
                </a:cubicBezTo>
                <a:cubicBezTo>
                  <a:pt x="117640" y="206309"/>
                  <a:pt x="117816" y="204641"/>
                  <a:pt x="118003" y="202904"/>
                </a:cubicBezTo>
                <a:cubicBezTo>
                  <a:pt x="118179" y="201270"/>
                  <a:pt x="118409" y="199619"/>
                  <a:pt x="118596" y="197985"/>
                </a:cubicBezTo>
                <a:cubicBezTo>
                  <a:pt x="118728" y="196885"/>
                  <a:pt x="118915" y="195835"/>
                  <a:pt x="119046" y="194804"/>
                </a:cubicBezTo>
                <a:cubicBezTo>
                  <a:pt x="119277" y="193239"/>
                  <a:pt x="119508" y="191742"/>
                  <a:pt x="119782" y="190194"/>
                </a:cubicBezTo>
                <a:cubicBezTo>
                  <a:pt x="120002" y="188733"/>
                  <a:pt x="120233" y="187288"/>
                  <a:pt x="120507" y="185775"/>
                </a:cubicBezTo>
                <a:cubicBezTo>
                  <a:pt x="120782" y="184416"/>
                  <a:pt x="121057" y="183006"/>
                  <a:pt x="121375" y="181595"/>
                </a:cubicBezTo>
                <a:cubicBezTo>
                  <a:pt x="121650" y="180271"/>
                  <a:pt x="121924" y="178947"/>
                  <a:pt x="122243" y="177588"/>
                </a:cubicBezTo>
                <a:cubicBezTo>
                  <a:pt x="122561" y="176298"/>
                  <a:pt x="122880" y="175077"/>
                  <a:pt x="123198" y="173805"/>
                </a:cubicBezTo>
                <a:cubicBezTo>
                  <a:pt x="123517" y="172566"/>
                  <a:pt x="123879" y="171380"/>
                  <a:pt x="124242" y="170210"/>
                </a:cubicBezTo>
                <a:cubicBezTo>
                  <a:pt x="124615" y="169024"/>
                  <a:pt x="124978" y="167888"/>
                  <a:pt x="125340" y="166736"/>
                </a:cubicBezTo>
                <a:cubicBezTo>
                  <a:pt x="125703" y="165687"/>
                  <a:pt x="126120" y="164604"/>
                  <a:pt x="126527" y="163503"/>
                </a:cubicBezTo>
                <a:cubicBezTo>
                  <a:pt x="126933" y="162505"/>
                  <a:pt x="127350" y="161508"/>
                  <a:pt x="127801" y="160510"/>
                </a:cubicBezTo>
                <a:cubicBezTo>
                  <a:pt x="128207" y="159496"/>
                  <a:pt x="128669" y="158550"/>
                  <a:pt x="129119" y="157638"/>
                </a:cubicBezTo>
                <a:cubicBezTo>
                  <a:pt x="129350" y="157174"/>
                  <a:pt x="129580" y="156761"/>
                  <a:pt x="129811" y="156366"/>
                </a:cubicBezTo>
                <a:cubicBezTo>
                  <a:pt x="129943" y="156090"/>
                  <a:pt x="130129" y="155764"/>
                  <a:pt x="130305" y="155454"/>
                </a:cubicBezTo>
                <a:cubicBezTo>
                  <a:pt x="129262" y="155265"/>
                  <a:pt x="128207" y="155076"/>
                  <a:pt x="127164" y="154938"/>
                </a:cubicBezTo>
                <a:cubicBezTo>
                  <a:pt x="124791" y="154577"/>
                  <a:pt x="122419" y="154302"/>
                  <a:pt x="120002" y="154130"/>
                </a:cubicBezTo>
                <a:cubicBezTo>
                  <a:pt x="117640" y="153992"/>
                  <a:pt x="115224" y="153906"/>
                  <a:pt x="112851" y="153906"/>
                </a:cubicBezTo>
                <a:cubicBezTo>
                  <a:pt x="110479" y="153906"/>
                  <a:pt x="108062" y="153941"/>
                  <a:pt x="105690" y="154130"/>
                </a:cubicBezTo>
                <a:cubicBezTo>
                  <a:pt x="103284" y="154302"/>
                  <a:pt x="100912" y="154577"/>
                  <a:pt x="98539" y="154938"/>
                </a:cubicBezTo>
                <a:cubicBezTo>
                  <a:pt x="97495" y="155076"/>
                  <a:pt x="96441" y="155265"/>
                  <a:pt x="95398" y="155454"/>
                </a:cubicBezTo>
                <a:cubicBezTo>
                  <a:pt x="95573" y="155764"/>
                  <a:pt x="95760" y="156090"/>
                  <a:pt x="95936" y="156366"/>
                </a:cubicBezTo>
                <a:cubicBezTo>
                  <a:pt x="96122" y="156761"/>
                  <a:pt x="96353" y="157174"/>
                  <a:pt x="96584" y="157638"/>
                </a:cubicBezTo>
                <a:cubicBezTo>
                  <a:pt x="97034" y="158550"/>
                  <a:pt x="97495" y="159496"/>
                  <a:pt x="97902" y="160510"/>
                </a:cubicBezTo>
                <a:cubicBezTo>
                  <a:pt x="98352" y="161508"/>
                  <a:pt x="98770" y="162505"/>
                  <a:pt x="99176" y="163503"/>
                </a:cubicBezTo>
                <a:cubicBezTo>
                  <a:pt x="99582" y="164604"/>
                  <a:pt x="100000" y="165687"/>
                  <a:pt x="100362" y="166736"/>
                </a:cubicBezTo>
                <a:cubicBezTo>
                  <a:pt x="100725" y="167888"/>
                  <a:pt x="101087" y="169024"/>
                  <a:pt x="101461" y="170210"/>
                </a:cubicBezTo>
                <a:cubicBezTo>
                  <a:pt x="101823" y="171380"/>
                  <a:pt x="102186" y="172566"/>
                  <a:pt x="102504" y="173805"/>
                </a:cubicBezTo>
                <a:cubicBezTo>
                  <a:pt x="102823" y="175077"/>
                  <a:pt x="103141" y="176298"/>
                  <a:pt x="103460" y="177588"/>
                </a:cubicBezTo>
                <a:cubicBezTo>
                  <a:pt x="103778" y="178947"/>
                  <a:pt x="104053" y="180271"/>
                  <a:pt x="104328" y="181595"/>
                </a:cubicBezTo>
                <a:cubicBezTo>
                  <a:pt x="104646" y="183006"/>
                  <a:pt x="104921" y="184416"/>
                  <a:pt x="105195" y="185775"/>
                </a:cubicBezTo>
                <a:cubicBezTo>
                  <a:pt x="105470" y="187288"/>
                  <a:pt x="105690" y="188733"/>
                  <a:pt x="105964" y="190194"/>
                </a:cubicBezTo>
                <a:cubicBezTo>
                  <a:pt x="106195" y="191742"/>
                  <a:pt x="106426" y="193239"/>
                  <a:pt x="106656" y="194804"/>
                </a:cubicBezTo>
                <a:cubicBezTo>
                  <a:pt x="107063" y="197486"/>
                  <a:pt x="107381" y="200221"/>
                  <a:pt x="107700" y="202904"/>
                </a:cubicBezTo>
                <a:cubicBezTo>
                  <a:pt x="108106" y="206412"/>
                  <a:pt x="108425" y="209921"/>
                  <a:pt x="108754" y="213429"/>
                </a:cubicBezTo>
                <a:cubicBezTo>
                  <a:pt x="109073" y="217161"/>
                  <a:pt x="109336" y="220945"/>
                  <a:pt x="109523" y="224711"/>
                </a:cubicBezTo>
                <a:cubicBezTo>
                  <a:pt x="109798" y="228908"/>
                  <a:pt x="106601" y="232502"/>
                  <a:pt x="102416" y="232725"/>
                </a:cubicBezTo>
                <a:cubicBezTo>
                  <a:pt x="98220" y="233001"/>
                  <a:pt x="94618" y="229819"/>
                  <a:pt x="94387" y="225623"/>
                </a:cubicBezTo>
                <a:cubicBezTo>
                  <a:pt x="94211" y="222854"/>
                  <a:pt x="94024" y="220068"/>
                  <a:pt x="93849" y="217333"/>
                </a:cubicBezTo>
                <a:cubicBezTo>
                  <a:pt x="93618" y="214736"/>
                  <a:pt x="93387" y="212139"/>
                  <a:pt x="93157" y="209542"/>
                </a:cubicBezTo>
                <a:cubicBezTo>
                  <a:pt x="92882" y="207135"/>
                  <a:pt x="92619" y="204675"/>
                  <a:pt x="92344" y="202268"/>
                </a:cubicBezTo>
                <a:cubicBezTo>
                  <a:pt x="92113" y="200496"/>
                  <a:pt x="91883" y="198708"/>
                  <a:pt x="91608" y="196936"/>
                </a:cubicBezTo>
                <a:cubicBezTo>
                  <a:pt x="91333" y="194838"/>
                  <a:pt x="90971" y="192705"/>
                  <a:pt x="90608" y="190556"/>
                </a:cubicBezTo>
                <a:cubicBezTo>
                  <a:pt x="90290" y="188595"/>
                  <a:pt x="89883" y="186652"/>
                  <a:pt x="89466" y="184725"/>
                </a:cubicBezTo>
                <a:cubicBezTo>
                  <a:pt x="89104" y="182954"/>
                  <a:pt x="88697" y="181131"/>
                  <a:pt x="88236" y="179394"/>
                </a:cubicBezTo>
                <a:cubicBezTo>
                  <a:pt x="87873" y="177760"/>
                  <a:pt x="87412" y="176161"/>
                  <a:pt x="86918" y="174579"/>
                </a:cubicBezTo>
                <a:cubicBezTo>
                  <a:pt x="86687" y="173839"/>
                  <a:pt x="86456" y="173117"/>
                  <a:pt x="86237" y="172394"/>
                </a:cubicBezTo>
                <a:cubicBezTo>
                  <a:pt x="86006" y="171706"/>
                  <a:pt x="85775" y="171019"/>
                  <a:pt x="85501" y="170348"/>
                </a:cubicBezTo>
                <a:cubicBezTo>
                  <a:pt x="85270" y="169660"/>
                  <a:pt x="85050" y="169024"/>
                  <a:pt x="84776" y="168387"/>
                </a:cubicBezTo>
                <a:cubicBezTo>
                  <a:pt x="84545" y="167785"/>
                  <a:pt x="84271" y="167201"/>
                  <a:pt x="84040" y="166599"/>
                </a:cubicBezTo>
                <a:cubicBezTo>
                  <a:pt x="83776" y="166065"/>
                  <a:pt x="83546" y="165515"/>
                  <a:pt x="83271" y="164965"/>
                </a:cubicBezTo>
                <a:cubicBezTo>
                  <a:pt x="83040" y="164518"/>
                  <a:pt x="82810" y="164053"/>
                  <a:pt x="82590" y="163606"/>
                </a:cubicBezTo>
                <a:cubicBezTo>
                  <a:pt x="82315" y="163142"/>
                  <a:pt x="82085" y="162695"/>
                  <a:pt x="81810" y="162230"/>
                </a:cubicBezTo>
                <a:cubicBezTo>
                  <a:pt x="81535" y="161817"/>
                  <a:pt x="81305" y="161422"/>
                  <a:pt x="81041" y="161009"/>
                </a:cubicBezTo>
                <a:cubicBezTo>
                  <a:pt x="80767" y="160596"/>
                  <a:pt x="80536" y="160235"/>
                  <a:pt x="80261" y="159857"/>
                </a:cubicBezTo>
                <a:cubicBezTo>
                  <a:pt x="79987" y="159547"/>
                  <a:pt x="79756" y="159221"/>
                  <a:pt x="79481" y="158911"/>
                </a:cubicBezTo>
                <a:cubicBezTo>
                  <a:pt x="79262" y="158636"/>
                  <a:pt x="78987" y="158361"/>
                  <a:pt x="78756" y="158085"/>
                </a:cubicBezTo>
                <a:cubicBezTo>
                  <a:pt x="78526" y="157862"/>
                  <a:pt x="78251" y="157638"/>
                  <a:pt x="78032" y="157398"/>
                </a:cubicBezTo>
                <a:cubicBezTo>
                  <a:pt x="77801" y="157174"/>
                  <a:pt x="77570" y="157002"/>
                  <a:pt x="77340" y="156813"/>
                </a:cubicBezTo>
                <a:cubicBezTo>
                  <a:pt x="72463" y="153029"/>
                  <a:pt x="73923" y="145290"/>
                  <a:pt x="79855" y="143553"/>
                </a:cubicBezTo>
                <a:cubicBezTo>
                  <a:pt x="82590" y="142745"/>
                  <a:pt x="85325" y="142057"/>
                  <a:pt x="88060" y="141420"/>
                </a:cubicBezTo>
                <a:cubicBezTo>
                  <a:pt x="90795" y="140836"/>
                  <a:pt x="93574" y="140320"/>
                  <a:pt x="96309" y="139924"/>
                </a:cubicBezTo>
                <a:cubicBezTo>
                  <a:pt x="99088" y="139511"/>
                  <a:pt x="101823" y="139236"/>
                  <a:pt x="104602" y="139013"/>
                </a:cubicBezTo>
                <a:cubicBezTo>
                  <a:pt x="107337" y="138824"/>
                  <a:pt x="110072" y="138738"/>
                  <a:pt x="112851" y="138738"/>
                </a:cubicBezTo>
                <a:moveTo>
                  <a:pt x="112829" y="0"/>
                </a:moveTo>
                <a:cubicBezTo>
                  <a:pt x="149714" y="0"/>
                  <a:pt x="184270" y="17989"/>
                  <a:pt x="205382" y="48206"/>
                </a:cubicBezTo>
                <a:cubicBezTo>
                  <a:pt x="226494" y="78441"/>
                  <a:pt x="231458" y="116999"/>
                  <a:pt x="218695" y="151602"/>
                </a:cubicBezTo>
                <a:cubicBezTo>
                  <a:pt x="205613" y="187064"/>
                  <a:pt x="166718" y="205776"/>
                  <a:pt x="160654" y="250698"/>
                </a:cubicBezTo>
                <a:cubicBezTo>
                  <a:pt x="162884" y="250113"/>
                  <a:pt x="165169" y="249562"/>
                  <a:pt x="167399" y="249012"/>
                </a:cubicBezTo>
                <a:cubicBezTo>
                  <a:pt x="171463" y="247980"/>
                  <a:pt x="175604" y="250474"/>
                  <a:pt x="176614" y="254533"/>
                </a:cubicBezTo>
                <a:cubicBezTo>
                  <a:pt x="177614" y="258574"/>
                  <a:pt x="175154" y="262719"/>
                  <a:pt x="171100" y="263734"/>
                </a:cubicBezTo>
                <a:cubicBezTo>
                  <a:pt x="133480" y="273107"/>
                  <a:pt x="95870" y="282480"/>
                  <a:pt x="58260" y="291904"/>
                </a:cubicBezTo>
                <a:cubicBezTo>
                  <a:pt x="54196" y="292902"/>
                  <a:pt x="50055" y="290443"/>
                  <a:pt x="49044" y="286349"/>
                </a:cubicBezTo>
                <a:cubicBezTo>
                  <a:pt x="48045" y="282291"/>
                  <a:pt x="50505" y="278197"/>
                  <a:pt x="54558" y="277148"/>
                </a:cubicBezTo>
                <a:cubicBezTo>
                  <a:pt x="85292" y="269512"/>
                  <a:pt x="116026" y="261808"/>
                  <a:pt x="146748" y="254172"/>
                </a:cubicBezTo>
                <a:cubicBezTo>
                  <a:pt x="145650" y="252486"/>
                  <a:pt x="145288" y="250938"/>
                  <a:pt x="145562" y="248978"/>
                </a:cubicBezTo>
                <a:cubicBezTo>
                  <a:pt x="145980" y="245796"/>
                  <a:pt x="146518" y="242700"/>
                  <a:pt x="147254" y="239605"/>
                </a:cubicBezTo>
                <a:cubicBezTo>
                  <a:pt x="147935" y="236595"/>
                  <a:pt x="148759" y="233671"/>
                  <a:pt x="149758" y="230817"/>
                </a:cubicBezTo>
                <a:cubicBezTo>
                  <a:pt x="150670" y="228030"/>
                  <a:pt x="151724" y="225296"/>
                  <a:pt x="152900" y="222613"/>
                </a:cubicBezTo>
                <a:cubicBezTo>
                  <a:pt x="153998" y="220016"/>
                  <a:pt x="155228" y="217471"/>
                  <a:pt x="156546" y="214960"/>
                </a:cubicBezTo>
                <a:cubicBezTo>
                  <a:pt x="157832" y="212604"/>
                  <a:pt x="159237" y="210230"/>
                  <a:pt x="160654" y="207909"/>
                </a:cubicBezTo>
                <a:cubicBezTo>
                  <a:pt x="162071" y="205673"/>
                  <a:pt x="163532" y="203489"/>
                  <a:pt x="165037" y="201304"/>
                </a:cubicBezTo>
                <a:cubicBezTo>
                  <a:pt x="166487" y="199223"/>
                  <a:pt x="168036" y="197160"/>
                  <a:pt x="169596" y="195165"/>
                </a:cubicBezTo>
                <a:cubicBezTo>
                  <a:pt x="171100" y="193170"/>
                  <a:pt x="172649" y="191244"/>
                  <a:pt x="174198" y="189335"/>
                </a:cubicBezTo>
                <a:cubicBezTo>
                  <a:pt x="175747" y="187477"/>
                  <a:pt x="177252" y="185603"/>
                  <a:pt x="178800" y="183780"/>
                </a:cubicBezTo>
                <a:cubicBezTo>
                  <a:pt x="180217" y="182094"/>
                  <a:pt x="181623" y="180409"/>
                  <a:pt x="183040" y="178775"/>
                </a:cubicBezTo>
                <a:cubicBezTo>
                  <a:pt x="183765" y="177915"/>
                  <a:pt x="184501" y="177038"/>
                  <a:pt x="185182" y="176178"/>
                </a:cubicBezTo>
                <a:cubicBezTo>
                  <a:pt x="186599" y="174493"/>
                  <a:pt x="188005" y="172807"/>
                  <a:pt x="189334" y="171087"/>
                </a:cubicBezTo>
                <a:cubicBezTo>
                  <a:pt x="190652" y="169436"/>
                  <a:pt x="191926" y="167802"/>
                  <a:pt x="193212" y="166117"/>
                </a:cubicBezTo>
                <a:cubicBezTo>
                  <a:pt x="194398" y="164535"/>
                  <a:pt x="195573" y="162884"/>
                  <a:pt x="196672" y="161198"/>
                </a:cubicBezTo>
                <a:cubicBezTo>
                  <a:pt x="197715" y="159616"/>
                  <a:pt x="198770" y="157965"/>
                  <a:pt x="199725" y="156280"/>
                </a:cubicBezTo>
                <a:cubicBezTo>
                  <a:pt x="200637" y="154697"/>
                  <a:pt x="201505" y="153046"/>
                  <a:pt x="202328" y="151378"/>
                </a:cubicBezTo>
                <a:cubicBezTo>
                  <a:pt x="203097" y="149727"/>
                  <a:pt x="203833" y="148042"/>
                  <a:pt x="204470" y="146356"/>
                </a:cubicBezTo>
                <a:cubicBezTo>
                  <a:pt x="215498" y="116449"/>
                  <a:pt x="211171" y="83033"/>
                  <a:pt x="192937" y="56909"/>
                </a:cubicBezTo>
                <a:cubicBezTo>
                  <a:pt x="174648" y="30733"/>
                  <a:pt x="144738" y="15152"/>
                  <a:pt x="112829" y="15152"/>
                </a:cubicBezTo>
                <a:cubicBezTo>
                  <a:pt x="80920" y="15152"/>
                  <a:pt x="51010" y="30733"/>
                  <a:pt x="32722" y="56909"/>
                </a:cubicBezTo>
                <a:cubicBezTo>
                  <a:pt x="14488" y="83033"/>
                  <a:pt x="10160" y="116449"/>
                  <a:pt x="21188" y="146356"/>
                </a:cubicBezTo>
                <a:cubicBezTo>
                  <a:pt x="21650" y="147543"/>
                  <a:pt x="22144" y="148730"/>
                  <a:pt x="22649" y="149916"/>
                </a:cubicBezTo>
                <a:cubicBezTo>
                  <a:pt x="23199" y="151103"/>
                  <a:pt x="23748" y="152273"/>
                  <a:pt x="24341" y="153425"/>
                </a:cubicBezTo>
                <a:cubicBezTo>
                  <a:pt x="24978" y="154594"/>
                  <a:pt x="25615" y="155747"/>
                  <a:pt x="26296" y="156882"/>
                </a:cubicBezTo>
                <a:cubicBezTo>
                  <a:pt x="26977" y="158068"/>
                  <a:pt x="27669" y="159203"/>
                  <a:pt x="28438" y="160338"/>
                </a:cubicBezTo>
                <a:cubicBezTo>
                  <a:pt x="29218" y="161525"/>
                  <a:pt x="29987" y="162712"/>
                  <a:pt x="30811" y="163847"/>
                </a:cubicBezTo>
                <a:cubicBezTo>
                  <a:pt x="31316" y="164569"/>
                  <a:pt x="31810" y="165257"/>
                  <a:pt x="32359" y="165979"/>
                </a:cubicBezTo>
                <a:cubicBezTo>
                  <a:pt x="33227" y="167166"/>
                  <a:pt x="34139" y="168353"/>
                  <a:pt x="35050" y="169488"/>
                </a:cubicBezTo>
                <a:cubicBezTo>
                  <a:pt x="35962" y="170726"/>
                  <a:pt x="36918" y="171896"/>
                  <a:pt x="37873" y="173048"/>
                </a:cubicBezTo>
                <a:cubicBezTo>
                  <a:pt x="38884" y="174269"/>
                  <a:pt x="39884" y="175456"/>
                  <a:pt x="40883" y="176677"/>
                </a:cubicBezTo>
                <a:cubicBezTo>
                  <a:pt x="42025" y="178053"/>
                  <a:pt x="43212" y="179411"/>
                  <a:pt x="44354" y="180821"/>
                </a:cubicBezTo>
                <a:cubicBezTo>
                  <a:pt x="45584" y="182232"/>
                  <a:pt x="46815" y="183694"/>
                  <a:pt x="48001" y="185155"/>
                </a:cubicBezTo>
                <a:cubicBezTo>
                  <a:pt x="49088" y="186462"/>
                  <a:pt x="50187" y="187752"/>
                  <a:pt x="51230" y="189059"/>
                </a:cubicBezTo>
                <a:cubicBezTo>
                  <a:pt x="52329" y="190435"/>
                  <a:pt x="53427" y="191742"/>
                  <a:pt x="54514" y="193118"/>
                </a:cubicBezTo>
                <a:cubicBezTo>
                  <a:pt x="55613" y="194528"/>
                  <a:pt x="56711" y="195939"/>
                  <a:pt x="57755" y="197349"/>
                </a:cubicBezTo>
                <a:cubicBezTo>
                  <a:pt x="58853" y="198811"/>
                  <a:pt x="59897" y="200307"/>
                  <a:pt x="60951" y="201803"/>
                </a:cubicBezTo>
                <a:cubicBezTo>
                  <a:pt x="62039" y="203317"/>
                  <a:pt x="63038" y="204864"/>
                  <a:pt x="64093" y="206447"/>
                </a:cubicBezTo>
                <a:cubicBezTo>
                  <a:pt x="64730" y="207461"/>
                  <a:pt x="65323" y="208407"/>
                  <a:pt x="65916" y="209456"/>
                </a:cubicBezTo>
                <a:cubicBezTo>
                  <a:pt x="66916" y="211090"/>
                  <a:pt x="67871" y="212776"/>
                  <a:pt x="68838" y="214461"/>
                </a:cubicBezTo>
                <a:cubicBezTo>
                  <a:pt x="69749" y="216198"/>
                  <a:pt x="70661" y="217969"/>
                  <a:pt x="71474" y="219741"/>
                </a:cubicBezTo>
                <a:cubicBezTo>
                  <a:pt x="72342" y="221615"/>
                  <a:pt x="73166" y="223473"/>
                  <a:pt x="73934" y="225347"/>
                </a:cubicBezTo>
                <a:cubicBezTo>
                  <a:pt x="74714" y="227308"/>
                  <a:pt x="75395" y="229269"/>
                  <a:pt x="76087" y="231212"/>
                </a:cubicBezTo>
                <a:cubicBezTo>
                  <a:pt x="76724" y="233276"/>
                  <a:pt x="77318" y="235322"/>
                  <a:pt x="77856" y="237369"/>
                </a:cubicBezTo>
                <a:cubicBezTo>
                  <a:pt x="78910" y="241411"/>
                  <a:pt x="76450" y="245555"/>
                  <a:pt x="72386" y="246604"/>
                </a:cubicBezTo>
                <a:cubicBezTo>
                  <a:pt x="68333" y="247653"/>
                  <a:pt x="64180" y="245194"/>
                  <a:pt x="63181" y="241153"/>
                </a:cubicBezTo>
                <a:cubicBezTo>
                  <a:pt x="53328" y="202955"/>
                  <a:pt x="19090" y="184416"/>
                  <a:pt x="6964" y="151602"/>
                </a:cubicBezTo>
                <a:cubicBezTo>
                  <a:pt x="-5800" y="116999"/>
                  <a:pt x="-835" y="78441"/>
                  <a:pt x="20277" y="48206"/>
                </a:cubicBezTo>
                <a:cubicBezTo>
                  <a:pt x="41388" y="17989"/>
                  <a:pt x="75945" y="0"/>
                  <a:pt x="112829" y="0"/>
                </a:cubicBezTo>
                <a:close/>
              </a:path>
            </a:pathLst>
          </a:custGeom>
          <a:solidFill>
            <a:srgbClr val="4674EB"/>
          </a:solidFill>
        </p:spPr>
      </p:sp>
      <p:sp>
        <p:nvSpPr>
          <p:cNvPr id="4" name="Text 1"/>
          <p:cNvSpPr/>
          <p:nvPr/>
        </p:nvSpPr>
        <p:spPr>
          <a:xfrm>
            <a:off x="6057626" y="1401958"/>
            <a:ext cx="225674" cy="37152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5" name="Shape 2"/>
          <p:cNvSpPr/>
          <p:nvPr/>
        </p:nvSpPr>
        <p:spPr>
          <a:xfrm>
            <a:off x="6058906" y="3062051"/>
            <a:ext cx="248534" cy="228783"/>
          </a:xfrm>
          <a:custGeom>
            <a:avLst/>
            <a:gdLst/>
            <a:ahLst/>
            <a:cxnLst/>
            <a:rect l="l" t="t" r="r" b="b"/>
            <a:pathLst>
              <a:path w="248534" h="228783">
                <a:moveTo>
                  <a:pt x="69762" y="225675"/>
                </a:moveTo>
                <a:cubicBezTo>
                  <a:pt x="73223" y="229567"/>
                  <a:pt x="79274" y="229995"/>
                  <a:pt x="83594" y="226114"/>
                </a:cubicBezTo>
                <a:lnTo>
                  <a:pt x="245358" y="79766"/>
                </a:lnTo>
                <a:cubicBezTo>
                  <a:pt x="249249" y="76312"/>
                  <a:pt x="249678" y="70271"/>
                  <a:pt x="246218" y="65951"/>
                </a:cubicBezTo>
                <a:lnTo>
                  <a:pt x="204270" y="20187"/>
                </a:lnTo>
                <a:cubicBezTo>
                  <a:pt x="200368" y="15878"/>
                  <a:pt x="194317" y="15878"/>
                  <a:pt x="190426" y="19332"/>
                </a:cubicBezTo>
                <a:lnTo>
                  <a:pt x="52458" y="143653"/>
                </a:lnTo>
                <a:cubicBezTo>
                  <a:pt x="48568" y="147545"/>
                  <a:pt x="48138" y="153587"/>
                  <a:pt x="52028" y="157468"/>
                </a:cubicBezTo>
                <a:lnTo>
                  <a:pt x="74512" y="182510"/>
                </a:lnTo>
                <a:cubicBezTo>
                  <a:pt x="77973" y="186391"/>
                  <a:pt x="84465" y="186830"/>
                  <a:pt x="88355" y="182938"/>
                </a:cubicBezTo>
                <a:lnTo>
                  <a:pt x="146307" y="130705"/>
                </a:lnTo>
                <a:cubicBezTo>
                  <a:pt x="150197" y="127251"/>
                  <a:pt x="150639" y="120772"/>
                  <a:pt x="147178" y="116890"/>
                </a:cubicBezTo>
                <a:lnTo>
                  <a:pt x="140256" y="109555"/>
                </a:lnTo>
                <a:lnTo>
                  <a:pt x="82305" y="162216"/>
                </a:lnTo>
                <a:lnTo>
                  <a:pt x="73223" y="151855"/>
                </a:lnTo>
                <a:lnTo>
                  <a:pt x="196477" y="40482"/>
                </a:lnTo>
                <a:lnTo>
                  <a:pt x="225023" y="71992"/>
                </a:lnTo>
                <a:lnTo>
                  <a:pt x="77543" y="205392"/>
                </a:lnTo>
                <a:lnTo>
                  <a:pt x="23912" y="145813"/>
                </a:lnTo>
                <a:lnTo>
                  <a:pt x="173564" y="10265"/>
                </a:lnTo>
                <a:lnTo>
                  <a:pt x="167072" y="3357"/>
                </a:lnTo>
                <a:cubicBezTo>
                  <a:pt x="163181" y="-962"/>
                  <a:pt x="157119" y="-962"/>
                  <a:pt x="153228" y="2491"/>
                </a:cubicBezTo>
                <a:lnTo>
                  <a:pt x="3147" y="138040"/>
                </a:lnTo>
                <a:cubicBezTo>
                  <a:pt x="-743" y="141494"/>
                  <a:pt x="-1173" y="147545"/>
                  <a:pt x="2718" y="151855"/>
                </a:cubicBezTo>
                <a:lnTo>
                  <a:pt x="69762" y="225675"/>
                </a:lnTo>
                <a:close/>
              </a:path>
            </a:pathLst>
          </a:custGeom>
          <a:solidFill>
            <a:srgbClr val="4674EB"/>
          </a:solidFill>
        </p:spPr>
      </p:sp>
      <p:sp>
        <p:nvSpPr>
          <p:cNvPr id="6" name="Text 3"/>
          <p:cNvSpPr/>
          <p:nvPr/>
        </p:nvSpPr>
        <p:spPr>
          <a:xfrm>
            <a:off x="6058906" y="3062051"/>
            <a:ext cx="248534" cy="228783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Bef>
                <a:spcPts val="365"/>
              </a:spcBef>
              <a:buNone/>
            </a:pPr>
            <a:r>
              <a:rPr lang="en-US" sz="131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7" name="Text 4"/>
          <p:cNvSpPr/>
          <p:nvPr/>
        </p:nvSpPr>
        <p:spPr>
          <a:xfrm>
            <a:off x="6019038" y="1817004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在探究物体运动与受力关系时，通过收集不同材质表面物体滑动的距离及速度数据，总结运动变化规律，据此推导实验结论，明确摩檫力对物体运动的关键影响。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6390559" y="1426464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分析数据总结规律</a:t>
            </a:r>
            <a:endParaRPr lang="en-US" sz="1460" dirty="0"/>
          </a:p>
        </p:txBody>
      </p:sp>
      <p:sp>
        <p:nvSpPr>
          <p:cNvPr id="9" name="Text 6"/>
          <p:cNvSpPr/>
          <p:nvPr/>
        </p:nvSpPr>
        <p:spPr>
          <a:xfrm>
            <a:off x="6019038" y="3394436"/>
            <a:ext cx="2829794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00"/>
              </a:lnSpc>
              <a:spcBef>
                <a:spcPts val="365"/>
              </a:spcBef>
              <a:buNone/>
            </a:pPr>
            <a:r>
              <a:rPr lang="en-US" sz="9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通过在水平桌面上用弹簧测力计匀速拉动木块，记录不同接触面粗糙程度下的拉力值，分析数据得出接触面越粗糙摩擦力越大，验证了摩擦力与接触面状况的关系。</a:t>
            </a:r>
            <a:endParaRPr lang="en-US" sz="1460" dirty="0"/>
          </a:p>
        </p:txBody>
      </p:sp>
      <p:sp>
        <p:nvSpPr>
          <p:cNvPr id="10" name="Text 7"/>
          <p:cNvSpPr/>
          <p:nvPr/>
        </p:nvSpPr>
        <p:spPr>
          <a:xfrm>
            <a:off x="6390559" y="3038917"/>
            <a:ext cx="2464948" cy="365760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365"/>
              </a:spcBef>
              <a:buNone/>
            </a:pPr>
            <a:r>
              <a:rPr lang="en-US" sz="1095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验证摩檫力相关知识</a:t>
            </a:r>
            <a:endParaRPr lang="en-US" sz="1460" dirty="0"/>
          </a:p>
        </p:txBody>
      </p:sp>
      <p:sp>
        <p:nvSpPr>
          <p:cNvPr id="11" name="Text 8"/>
          <p:cNvSpPr/>
          <p:nvPr/>
        </p:nvSpPr>
        <p:spPr>
          <a:xfrm>
            <a:off x="847283" y="99578"/>
            <a:ext cx="7588057" cy="462772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l">
              <a:lnSpc>
                <a:spcPts val="3060"/>
              </a:lnSpc>
              <a:spcBef>
                <a:spcPts val="365"/>
              </a:spcBef>
              <a:buNone/>
            </a:pPr>
            <a:r>
              <a:rPr lang="en-US" sz="219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实验结论得出</a:t>
            </a:r>
            <a:endParaRPr lang="en-US" sz="146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85" y="953953"/>
            <a:ext cx="3534886" cy="32355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91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14922" y="1599926"/>
            <a:ext cx="6051499" cy="1115568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ctr">
              <a:lnSpc>
                <a:spcPts val="10000"/>
              </a:lnSpc>
              <a:spcBef>
                <a:spcPts val="365"/>
              </a:spcBef>
              <a:buNone/>
            </a:pPr>
            <a:r>
              <a:rPr lang="en-US" sz="7300" dirty="0">
                <a:solidFill>
                  <a:srgbClr val="4674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1460" dirty="0"/>
          </a:p>
        </p:txBody>
      </p:sp>
      <p:sp>
        <p:nvSpPr>
          <p:cNvPr id="5" name="Text 1"/>
          <p:cNvSpPr/>
          <p:nvPr/>
        </p:nvSpPr>
        <p:spPr>
          <a:xfrm>
            <a:off x="3599901" y="2930469"/>
            <a:ext cx="1803745" cy="434769"/>
          </a:xfrm>
          <a:prstGeom prst="rect">
            <a:avLst/>
          </a:prstGeom>
          <a:noFill/>
        </p:spPr>
        <p:txBody>
          <a:bodyPr wrap="square" lIns="92710" tIns="92710" rIns="92710" bIns="92710" rtlCol="0" anchor="t">
            <a:spAutoFit/>
          </a:bodyPr>
          <a:lstStyle/>
          <a:p>
            <a:pPr marL="0" indent="0" algn="ctr">
              <a:lnSpc>
                <a:spcPts val="2755"/>
              </a:lnSpc>
              <a:spcBef>
                <a:spcPts val="365"/>
              </a:spcBef>
              <a:buNone/>
            </a:pPr>
            <a:r>
              <a:rPr lang="en-US" sz="197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感谢观看</a:t>
            </a:r>
            <a:endParaRPr lang="en-US" sz="1460" dirty="0"/>
          </a:p>
        </p:txBody>
      </p:sp>
      <p:sp>
        <p:nvSpPr>
          <p:cNvPr id="6" name="Shape 2"/>
          <p:cNvSpPr/>
          <p:nvPr/>
        </p:nvSpPr>
        <p:spPr>
          <a:xfrm>
            <a:off x="5393406" y="2912638"/>
            <a:ext cx="26883" cy="401970"/>
          </a:xfrm>
          <a:custGeom>
            <a:avLst/>
            <a:gdLst/>
            <a:ahLst/>
            <a:cxnLst/>
            <a:rect l="l" t="t" r="r" b="b"/>
            <a:pathLst>
              <a:path w="26883" h="401970">
                <a:moveTo>
                  <a:pt x="0" y="0"/>
                </a:moveTo>
                <a:lnTo>
                  <a:pt x="26883" y="0"/>
                </a:lnTo>
                <a:lnTo>
                  <a:pt x="26883" y="401970"/>
                </a:lnTo>
                <a:lnTo>
                  <a:pt x="0" y="40197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Text 3"/>
          <p:cNvSpPr/>
          <p:nvPr/>
        </p:nvSpPr>
        <p:spPr>
          <a:xfrm>
            <a:off x="5393406" y="2912638"/>
            <a:ext cx="26883" cy="401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spcBef>
                <a:spcPts val="365"/>
              </a:spcBef>
              <a:buNone/>
            </a:pPr>
            <a:r>
              <a:rPr lang="en-US" sz="131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  <p:sp>
        <p:nvSpPr>
          <p:cNvPr id="8" name="Shape 4"/>
          <p:cNvSpPr/>
          <p:nvPr/>
        </p:nvSpPr>
        <p:spPr>
          <a:xfrm>
            <a:off x="3456615" y="2912638"/>
            <a:ext cx="26883" cy="401970"/>
          </a:xfrm>
          <a:custGeom>
            <a:avLst/>
            <a:gdLst/>
            <a:ahLst/>
            <a:cxnLst/>
            <a:rect l="l" t="t" r="r" b="b"/>
            <a:pathLst>
              <a:path w="26883" h="401970">
                <a:moveTo>
                  <a:pt x="0" y="0"/>
                </a:moveTo>
                <a:lnTo>
                  <a:pt x="26883" y="0"/>
                </a:lnTo>
                <a:lnTo>
                  <a:pt x="26883" y="401970"/>
                </a:lnTo>
                <a:lnTo>
                  <a:pt x="0" y="40197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Text 5"/>
          <p:cNvSpPr/>
          <p:nvPr/>
        </p:nvSpPr>
        <p:spPr>
          <a:xfrm>
            <a:off x="3456615" y="2912638"/>
            <a:ext cx="26883" cy="401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spcBef>
                <a:spcPts val="365"/>
              </a:spcBef>
              <a:buNone/>
            </a:pPr>
            <a:r>
              <a:rPr lang="en-US" sz="131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1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2136</Words>
  <Application>WPS 演示</Application>
  <PresentationFormat>On-screen Show (16:9)</PresentationFormat>
  <Paragraphs>242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宋体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狂奔的蜗牛</cp:lastModifiedBy>
  <cp:revision>2</cp:revision>
  <dcterms:created xsi:type="dcterms:W3CDTF">2026-05-16T09:07:00Z</dcterms:created>
  <dcterms:modified xsi:type="dcterms:W3CDTF">2026-05-16T09:09:36Z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{"Label":"1","ContentProducer":"001191340100MA2MWLEYXL00000","ProduceID":"8210699e-feba-4ea3-a548-050a113a40e5","ReserveCode1":"13390564","ContentPropagator":"001191340100MA2MWLEYXL00000","PropagateID":"8210699e-feba-4ea3-a548-050a113a40e5","ReserveCode2":"winppt"}</vt:lpwstr>
  </property>
  <property fmtid="{D5CDD505-2E9C-101B-9397-08002B2CF9AE}" pid="3" name="ICV">
    <vt:lpwstr>90B874965E2F4C8B87302ECD90259BFC_13</vt:lpwstr>
  </property>
  <property fmtid="{D5CDD505-2E9C-101B-9397-08002B2CF9AE}" pid="4" name="KSOProductBuildVer">
    <vt:lpwstr>2052-12.1.0.26375</vt:lpwstr>
  </property>
</Properties>
</file>